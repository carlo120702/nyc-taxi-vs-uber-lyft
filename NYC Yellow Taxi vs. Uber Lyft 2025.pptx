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analyses every Yellow Taxi, Uber and Lyft trip in New York City in 2025, about 287 million trips after cleaning. Our own angle is the competition between the traditional taxi and the app services. In the next ten minutes I will walk through the question, the pipeline we built with Prefect, Dask, AWS and Grafana, the main findings and our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the official trip record data of the New York City Taxi and Limousine Commission. We use all twelve months of 2025 for two sources: Yellow Taxi and the High Volume For-Hire Vehicles, which are Uber and Lyft. Together that is 6.8 gigabytes and 292 million raw records, far above the 1.5 gigabyte requirement. The unit of analysis is one trip. Our target variable is is_taxi: was this trip served by a yellow taxi or by an app. As additional context we joined the taxi zone lookup, which turns zone IDs into boroughs, and daily weather for Central 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The raw files never leave the laptop. A Prefect flow with six tasks finds months that are not yet in the database, loads the context data, cleans and harmonises the two different schemas in parallel with Dask, runs eight data quality rules per file, aggregates with Dask and loads only the results into PostgreSQL on AWS RDS. Grafana reads from RDS. The flow is incremental: a second run reports no new files, and a new month is processed on its own. The first full run took about six minutes for the analysis and load. All tables store sums, so Grafana can re-aggregate any time range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analysis we cleaned the data with explicit rules: trips outside the file's month, durations under one minute or over three hours, zero or over 100 miles, zero or negative fares and speeds above 80 miles per hour. The striking finding is the difference between the sources. Almost ten percent of the yellow taxi rows had to be removed, but only 0.2 percent of the app trips. The main reason is negative fares, which are refunds and voids stored as separate rows. Their share rises during the year, which the Prefect quality checks flagged automatically in 16 of 192 checks. The cause is not explained by the data itself, which is a point where we would need additional context from the TLC.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market. Uber has 61 percent of all trips, Lyft 23 and the yellow taxi only 15 percent. The share is stable across the year, between 14 and 16 percent per month. But the city-wide number hides where taxis still matter. In Manhattan, where street hails are allowed everywhere, taxis serve about 30 percent of trips, and in some zones such as Central Park or the Upper East Side more than half. In Queens it is about 7 percent, in Brooklyn and the Bronx almost nothing. On the right you see demand by hour: all services peak in the evening around 6 pm. So management should always look at market share by zone, not only city-wide.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price we compare the base fare before tips, taxes and surcharges, because the surcharges differ by law. Up to five miles the taxi is cheaper than Uber in every distance band, on trips under one mile by about 20 percent. Lyft is almost at taxi level. On longer trips the difference disappears. One caveat: per mile over all trips the taxi looks more expensive, 5.71 dollars against 5.42 for Uber, but only because taxi trips are much shorter on average, and short trips are always more expensive per mile. The biggest difference is in tips. Taxi passengers paying by card tip 22 percent, app users only 4 to 5 percent, probably because the taxi payment screen suggests 20 to 30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target variable is is_taxi. Only 15 percent of trips are positive, so the target is imbalanced and we evaluate with ROC-AUC and PR-AUC, not accuracy. As a feasibility check for the modelling phase we trained a gradient boosting model on a sample of half a million trips, using only features that are known when the trip starts. Fare, tip and duration are excluded because they are a consequence of the service chosen. The model reaches a ROC-AUC of 0.87, so place and time already separate taxi trips well. The weather data was our additional context: rainy days increase demand slightly for all services, but the taxi share does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Dask we compared two cluster configurations with the same total resources, eight threads and twelve gigabytes: two big workers against four small ones. With two workers the full analysis over 287 million trips took 286 seconds, with four workers 441 seconds, so configuration A was about 35 percent faster. Our explanation is that group-bys exchange data between worker processes, and with fewer processes there is less to exchange. We therefore made A the default. We also learned the hard way that partition size must match worker memory: in our first run one Uber month was a single partition of several gigabytes and Dask killed the workers. Splitting by Parquet row group, at most one million trips per partition, solved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Grafana dashboard for management. It reads only the aggregated tables in AWS RDS. The top row shows the headline numbers: 287 million trips, a taxi market share of 15.3 percent, 9.5 billion dollars of passenger spending of which taxis receive 13.3 percent. Below are trips and market share per month. Further down, not visible here, are market share by borough, demand by hour, price per mile, tip rates, the zones where taxis are strongest, waiting time and driver share for Uber and Lyft, daily trips against rainfall, and the status of every Prefect run with its quality checks. Every panel can be filtered by service and time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First, the yellow taxi is not gone but has become a niche: a Manhattan and airport product. Second, it is still competitive on short trips, where it is cheaper than Uber, and drivers earn much higher tips. Third, whether a trip is a taxi trip is highly predictable from place and time alone, while the weather does not change the market split. Fourth, the data quality of the taxi meter is clearly worse than the app data, and the rising share of refunds is something we would need to clarify with the TLC. Next steps would be a full model with zone-level features, adding 2024 to see the trend, and running the Prefect flow on a monthly schedule, since the TLC publishes a new file every month.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37908"/>
            <a:ext cx="10566400" cy="1005814"/>
          </a:xfrm>
          <a:prstGeom prst="rect">
            <a:avLst/>
          </a:prstGeom>
          <a:noFill/>
          <a:ln/>
        </p:spPr>
        <p:txBody>
          <a:bodyPr wrap="square" lIns="0" tIns="0" rIns="0" bIns="0" rtlCol="0" anchor="t"/>
          <a:lstStyle>
            <a:lvl1pPr algn="l" indent="0" marL="0">
              <a:lnSpc>
                <a:spcPct val="115000"/>
              </a:lnSpc>
              <a:buNone/>
              <a:defRPr lang="en-US" sz="3600" dirty="0">
                <a:solidFill>
                  <a:srgbClr val="1B2029"/>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448522"/>
            <a:ext cx="10566400" cy="3596678"/>
          </a:xfrm>
          <a:prstGeom prst="rect">
            <a:avLst/>
          </a:prstGeom>
          <a:noFill/>
          <a:ln/>
        </p:spPr>
        <p:txBody>
          <a:bodyPr wrap="square" lIns="0" tIns="0" rIns="0" bIns="0" rtlCol="0" anchor="t"/>
          <a:lstStyle>
            <a:lvl1pPr algn="l" indent="0" marL="0">
              <a:lnSpc>
                <a:spcPct val="140000"/>
              </a:lnSpc>
              <a:buNone/>
              <a:defRPr lang="en-US" sz="1600" dirty="0">
                <a:solidFill>
                  <a:srgbClr val="1B2029"/>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37908"/>
            <a:ext cx="10566400" cy="1005814"/>
          </a:xfrm>
          <a:prstGeom prst="rect">
            <a:avLst/>
          </a:prstGeom>
          <a:noFill/>
          <a:ln/>
        </p:spPr>
        <p:txBody>
          <a:bodyPr wrap="square" lIns="0" tIns="0" rIns="0" bIns="0" rtlCol="0" anchor="t"/>
          <a:lstStyle>
            <a:lvl1pPr algn="l" indent="0" marL="0">
              <a:lnSpc>
                <a:spcPct val="115000"/>
              </a:lnSpc>
              <a:buNone/>
              <a:defRPr lang="en-US" sz="3600" dirty="0">
                <a:solidFill>
                  <a:srgbClr val="1B2029"/>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448522"/>
            <a:ext cx="10566400" cy="3596678"/>
          </a:xfrm>
          <a:prstGeom prst="rect">
            <a:avLst/>
          </a:prstGeom>
          <a:noFill/>
          <a:ln/>
        </p:spPr>
        <p:txBody>
          <a:bodyPr wrap="square" lIns="0" tIns="0" rIns="0" bIns="0" rtlCol="0" anchor="t"/>
          <a:lstStyle>
            <a:lvl1pPr algn="l" indent="0" marL="0">
              <a:lnSpc>
                <a:spcPct val="140000"/>
              </a:lnSpc>
              <a:buNone/>
              <a:defRPr lang="en-US" sz="1600" dirty="0">
                <a:solidFill>
                  <a:srgbClr val="1B2029"/>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F"/>
        </a:solidFill>
      </p:bgPr>
    </p:bg>
    <p:spTree>
      <p:nvGrpSpPr>
        <p:cNvPr id="1" name=""/>
        <p:cNvGrpSpPr/>
        <p:nvPr/>
      </p:nvGrpSpPr>
      <p:grpSpPr>
        <a:xfrm>
          <a:off x="0" y="0"/>
          <a:ext cx="0" cy="0"/>
          <a:chOff x="0" y="0"/>
          <a:chExt cx="0" cy="0"/>
        </a:xfrm>
      </p:grpSpPr>
      <p:sp>
        <p:nvSpPr>
          <p:cNvPr id="2" name="Shape 0"/>
          <p:cNvSpPr/>
          <p:nvPr/>
        </p:nvSpPr>
        <p:spPr>
          <a:xfrm>
            <a:off x="0" y="0"/>
            <a:ext cx="304800" cy="6858000"/>
          </a:xfrm>
          <a:prstGeom prst="rect">
            <a:avLst/>
          </a:prstGeom>
          <a:solidFill>
            <a:srgbClr val="F2B701"/>
          </a:solidFill>
          <a:ln/>
        </p:spPr>
      </p:sp>
      <p:sp>
        <p:nvSpPr>
          <p:cNvPr id="3" name="Text 1"/>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B701"/>
                </a:solidFill>
                <a:latin typeface="Arial" pitchFamily="34" charset="0"/>
                <a:ea typeface="Arial" pitchFamily="34" charset="-122"/>
                <a:cs typeface="Arial" pitchFamily="34" charset="-120"/>
              </a:rPr>
              <a:t>BIG DATA · GROUP PROJECT · CRISP-DM</a:t>
            </a:r>
            <a:endParaRPr lang="en-US" sz="1400" dirty="0"/>
          </a:p>
        </p:txBody>
      </p:sp>
      <p:sp>
        <p:nvSpPr>
          <p:cNvPr id="4" name="Text 2"/>
          <p:cNvSpPr/>
          <p:nvPr>
            <p:ph type="title"/>
          </p:nvPr>
        </p:nvSpPr>
        <p:spPr>
          <a:xfrm>
            <a:off x="812800" y="2057466"/>
            <a:ext cx="10883392" cy="1838854"/>
          </a:xfrm>
          <a:prstGeom prst="rect">
            <a:avLst/>
          </a:prstGeom>
          <a:noFill/>
          <a:ln/>
        </p:spPr>
        <p:txBody>
          <a:bodyPr wrap="square" lIns="0" tIns="0" rIns="0" bIns="0" rtlCol="0" anchor="t">
            <a:normAutofit/>
          </a:bodyPr>
          <a:lstStyle/>
          <a:p>
            <a:pPr algn="l" indent="0" marL="0">
              <a:lnSpc>
                <a:spcPts val="7140"/>
              </a:lnSpc>
              <a:buNone/>
            </a:pPr>
            <a:r>
              <a:rPr lang="en-US" sz="6800" b="0" i="0" dirty="0">
                <a:solidFill>
                  <a:srgbClr val="ECE9E1"/>
                </a:solidFill>
                <a:latin typeface="Arial" pitchFamily="34" charset="0"/>
                <a:ea typeface="Arial" pitchFamily="34" charset="-122"/>
                <a:cs typeface="Arial" pitchFamily="34" charset="-120"/>
              </a:rPr>
              <a:t>YELLOW TAXI VS.</a:t>
            </a:r>
            <a:endParaRPr lang="en-US" sz="6800" dirty="0"/>
          </a:p>
          <a:p>
            <a:pPr algn="l" indent="0" marL="0">
              <a:lnSpc>
                <a:spcPts val="7140"/>
              </a:lnSpc>
              <a:buNone/>
            </a:pPr>
            <a:r>
              <a:rPr lang="en-US" sz="6800" b="0" i="0" dirty="0">
                <a:solidFill>
                  <a:srgbClr val="ECE9E1"/>
                </a:solidFill>
                <a:latin typeface="Arial" pitchFamily="34" charset="0"/>
                <a:ea typeface="Arial" pitchFamily="34" charset="-122"/>
                <a:cs typeface="Arial" pitchFamily="34" charset="-120"/>
              </a:rPr>
              <a:t>UBER &amp; LYFT</a:t>
            </a:r>
            <a:endParaRPr lang="en-US" sz="6800" dirty="0"/>
          </a:p>
        </p:txBody>
      </p:sp>
      <p:sp>
        <p:nvSpPr>
          <p:cNvPr id="5" name="Text 3"/>
          <p:cNvSpPr/>
          <p:nvPr/>
        </p:nvSpPr>
        <p:spPr>
          <a:xfrm>
            <a:off x="812800" y="4074120"/>
            <a:ext cx="10883392" cy="751814"/>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9BEC6"/>
                </a:solidFill>
                <a:latin typeface="Arial" pitchFamily="34" charset="0"/>
                <a:ea typeface="Arial" pitchFamily="34" charset="-122"/>
                <a:cs typeface="Arial" pitchFamily="34" charset="-120"/>
              </a:rPr>
              <a:t>Where, when and at what price can New York's taxis still compete?</a:t>
            </a:r>
            <a:endParaRPr lang="en-US" sz="2200" dirty="0"/>
          </a:p>
          <a:p>
            <a:pPr algn="l" indent="0" marL="0">
              <a:lnSpc>
                <a:spcPts val="2860"/>
              </a:lnSpc>
              <a:buNone/>
            </a:pPr>
            <a:r>
              <a:rPr lang="en-US" sz="2200" dirty="0">
                <a:solidFill>
                  <a:srgbClr val="B9BEC6"/>
                </a:solidFill>
                <a:latin typeface="Arial" pitchFamily="34" charset="0"/>
                <a:ea typeface="Arial" pitchFamily="34" charset="-122"/>
                <a:cs typeface="Arial" pitchFamily="34" charset="-120"/>
              </a:rPr>
              <a:t>287 million trips, NYC 2025</a:t>
            </a:r>
            <a:endParaRPr lang="en-US" sz="2200" dirty="0"/>
          </a:p>
        </p:txBody>
      </p:sp>
      <p:sp>
        <p:nvSpPr>
          <p:cNvPr id="6" name="Text 4"/>
          <p:cNvSpPr/>
          <p:nvPr/>
        </p:nvSpPr>
        <p:spPr>
          <a:xfrm>
            <a:off x="812800" y="5796293"/>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A919C"/>
                </a:solidFill>
                <a:latin typeface="Arial" pitchFamily="34" charset="0"/>
                <a:ea typeface="Arial" pitchFamily="34" charset="-122"/>
                <a:cs typeface="Arial" pitchFamily="34" charset="-120"/>
              </a:rPr>
              <a:t>Universidad de La Sabana · Big Data · October 10, 2026 · [Team names]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7A5A00"/>
                </a:solidFill>
                <a:latin typeface="Arial" pitchFamily="34" charset="0"/>
                <a:ea typeface="Arial" pitchFamily="34" charset="-122"/>
                <a:cs typeface="Arial" pitchFamily="34" charset="-120"/>
              </a:rPr>
              <a:t>A · BUSINESS UNDERSTANDING</a:t>
            </a:r>
            <a:endParaRPr lang="en-US" sz="1400" dirty="0"/>
          </a:p>
        </p:txBody>
      </p:sp>
      <p:sp>
        <p:nvSpPr>
          <p:cNvPr id="3" name="Text 1"/>
          <p:cNvSpPr/>
          <p:nvPr>
            <p:ph type="title"/>
          </p:nvPr>
        </p:nvSpPr>
        <p:spPr>
          <a:xfrm>
            <a:off x="812800" y="1137907"/>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029"/>
                </a:solidFill>
                <a:latin typeface="Arial" pitchFamily="34" charset="0"/>
                <a:ea typeface="Arial" pitchFamily="34" charset="-122"/>
                <a:cs typeface="Arial" pitchFamily="34" charset="-120"/>
              </a:rPr>
              <a:t>Dataset, objective and unit of analysis</a:t>
            </a:r>
            <a:endParaRPr lang="en-US" sz="3600" dirty="0"/>
          </a:p>
        </p:txBody>
      </p:sp>
      <p:sp>
        <p:nvSpPr>
          <p:cNvPr id="4" name="Shape 2"/>
          <p:cNvSpPr/>
          <p:nvPr/>
        </p:nvSpPr>
        <p:spPr>
          <a:xfrm>
            <a:off x="812800" y="1996414"/>
            <a:ext cx="3386667" cy="1930334"/>
          </a:xfrm>
          <a:prstGeom prst="roundRect">
            <a:avLst>
              <a:gd name="adj" fmla="val 5263"/>
            </a:avLst>
          </a:prstGeom>
          <a:solidFill>
            <a:srgbClr val="FFFFFF"/>
          </a:solidFill>
          <a:ln/>
        </p:spPr>
      </p:sp>
      <p:sp>
        <p:nvSpPr>
          <p:cNvPr id="5" name="Shape 3"/>
          <p:cNvSpPr/>
          <p:nvPr/>
        </p:nvSpPr>
        <p:spPr>
          <a:xfrm>
            <a:off x="812800" y="1996414"/>
            <a:ext cx="3386667" cy="1930334"/>
          </a:xfrm>
          <a:custGeom>
            <a:avLst/>
            <a:gdLst/>
            <a:ahLst/>
            <a:cxnLst/>
            <a:rect l="l" t="t" r="r" b="b"/>
            <a:pathLst>
              <a:path w="3386667" h="1930334">
                <a:moveTo>
                  <a:pt x="0" y="101600"/>
                </a:moveTo>
                <a:lnTo>
                  <a:pt x="0" y="101600"/>
                </a:lnTo>
                <a:arcTo hR="101600" wR="101600" stAng="10800000" swAng="5400000"/>
                <a:lnTo>
                  <a:pt x="3285067" y="0"/>
                </a:lnTo>
                <a:arcTo hR="101600" wR="101600" stAng="16200000" swAng="5400000"/>
                <a:lnTo>
                  <a:pt x="3386667" y="101600"/>
                </a:lnTo>
                <a:arcTo hR="50800" wR="101600" stAng="0" swAng="-5400000"/>
                <a:lnTo>
                  <a:pt x="101600" y="50800"/>
                </a:lnTo>
                <a:arcTo hR="50800" wR="101600" stAng="16200000" swAng="-5400000"/>
                <a:close/>
              </a:path>
            </a:pathLst>
          </a:custGeom>
          <a:solidFill>
            <a:srgbClr val="F2B701"/>
          </a:solidFill>
          <a:ln/>
        </p:spPr>
      </p:sp>
      <p:sp>
        <p:nvSpPr>
          <p:cNvPr id="6" name="Text 4"/>
          <p:cNvSpPr/>
          <p:nvPr/>
        </p:nvSpPr>
        <p:spPr>
          <a:xfrm>
            <a:off x="1066800" y="2301214"/>
            <a:ext cx="296502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029"/>
                </a:solidFill>
                <a:latin typeface="Arial" pitchFamily="34" charset="0"/>
                <a:ea typeface="Arial" pitchFamily="34" charset="-122"/>
                <a:cs typeface="Arial" pitchFamily="34" charset="-120"/>
              </a:rPr>
              <a:t>Objective</a:t>
            </a:r>
            <a:endParaRPr lang="en-US" sz="1800" dirty="0"/>
          </a:p>
        </p:txBody>
      </p:sp>
      <p:sp>
        <p:nvSpPr>
          <p:cNvPr id="7" name="Text 5"/>
          <p:cNvSpPr/>
          <p:nvPr/>
        </p:nvSpPr>
        <p:spPr>
          <a:xfrm>
            <a:off x="1066800" y="2677120"/>
            <a:ext cx="2965027"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52"/>
                </a:solidFill>
                <a:latin typeface="Arial" pitchFamily="34" charset="0"/>
                <a:ea typeface="Arial" pitchFamily="34" charset="-122"/>
                <a:cs typeface="Arial" pitchFamily="34" charset="-120"/>
              </a:rPr>
              <a:t>Compare Yellow Taxi with Uber and Lyft on demand, price and tipping by zone, hour and month, and predict which trips a taxi serves.</a:t>
            </a:r>
            <a:endParaRPr lang="en-US" sz="1400" dirty="0"/>
          </a:p>
        </p:txBody>
      </p:sp>
      <p:sp>
        <p:nvSpPr>
          <p:cNvPr id="8" name="Shape 6"/>
          <p:cNvSpPr/>
          <p:nvPr/>
        </p:nvSpPr>
        <p:spPr>
          <a:xfrm>
            <a:off x="4402667" y="1996414"/>
            <a:ext cx="3386667" cy="1930334"/>
          </a:xfrm>
          <a:prstGeom prst="roundRect">
            <a:avLst>
              <a:gd name="adj" fmla="val 5263"/>
            </a:avLst>
          </a:prstGeom>
          <a:solidFill>
            <a:srgbClr val="FFFFFF"/>
          </a:solidFill>
          <a:ln/>
        </p:spPr>
      </p:sp>
      <p:sp>
        <p:nvSpPr>
          <p:cNvPr id="9" name="Shape 7"/>
          <p:cNvSpPr/>
          <p:nvPr/>
        </p:nvSpPr>
        <p:spPr>
          <a:xfrm>
            <a:off x="4402667" y="1996414"/>
            <a:ext cx="3386667" cy="1930334"/>
          </a:xfrm>
          <a:custGeom>
            <a:avLst/>
            <a:gdLst/>
            <a:ahLst/>
            <a:cxnLst/>
            <a:rect l="l" t="t" r="r" b="b"/>
            <a:pathLst>
              <a:path w="3386667" h="1930334">
                <a:moveTo>
                  <a:pt x="0" y="101600"/>
                </a:moveTo>
                <a:lnTo>
                  <a:pt x="0" y="101600"/>
                </a:lnTo>
                <a:arcTo hR="101600" wR="101600" stAng="10800000" swAng="5400000"/>
                <a:lnTo>
                  <a:pt x="3285067" y="0"/>
                </a:lnTo>
                <a:arcTo hR="101600" wR="101600" stAng="16200000" swAng="5400000"/>
                <a:lnTo>
                  <a:pt x="3386667" y="101600"/>
                </a:lnTo>
                <a:arcTo hR="50800" wR="101600" stAng="0" swAng="-5400000"/>
                <a:lnTo>
                  <a:pt x="101600" y="50800"/>
                </a:lnTo>
                <a:arcTo hR="50800" wR="101600" stAng="16200000" swAng="-5400000"/>
                <a:close/>
              </a:path>
            </a:pathLst>
          </a:custGeom>
          <a:solidFill>
            <a:srgbClr val="F2B701"/>
          </a:solidFill>
          <a:ln/>
        </p:spPr>
      </p:sp>
      <p:sp>
        <p:nvSpPr>
          <p:cNvPr id="10" name="Text 8"/>
          <p:cNvSpPr/>
          <p:nvPr/>
        </p:nvSpPr>
        <p:spPr>
          <a:xfrm>
            <a:off x="4656667" y="2301214"/>
            <a:ext cx="296502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029"/>
                </a:solidFill>
                <a:latin typeface="Arial" pitchFamily="34" charset="0"/>
                <a:ea typeface="Arial" pitchFamily="34" charset="-122"/>
                <a:cs typeface="Arial" pitchFamily="34" charset="-120"/>
              </a:rPr>
              <a:t>Unit of analysis</a:t>
            </a:r>
            <a:endParaRPr lang="en-US" sz="1800" dirty="0"/>
          </a:p>
        </p:txBody>
      </p:sp>
      <p:sp>
        <p:nvSpPr>
          <p:cNvPr id="11" name="Text 9"/>
          <p:cNvSpPr/>
          <p:nvPr/>
        </p:nvSpPr>
        <p:spPr>
          <a:xfrm>
            <a:off x="4656667" y="2677120"/>
            <a:ext cx="2965027"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52"/>
                </a:solidFill>
                <a:latin typeface="Arial" pitchFamily="34" charset="0"/>
                <a:ea typeface="Arial" pitchFamily="34" charset="-122"/>
                <a:cs typeface="Arial" pitchFamily="34" charset="-120"/>
              </a:rPr>
              <a:t>One completed passenger trip. One row = one trip.</a:t>
            </a:r>
            <a:endParaRPr lang="en-US" sz="1400" dirty="0"/>
          </a:p>
        </p:txBody>
      </p:sp>
      <p:sp>
        <p:nvSpPr>
          <p:cNvPr id="12" name="Shape 10"/>
          <p:cNvSpPr/>
          <p:nvPr/>
        </p:nvSpPr>
        <p:spPr>
          <a:xfrm>
            <a:off x="7992534" y="1996414"/>
            <a:ext cx="3386667" cy="1930334"/>
          </a:xfrm>
          <a:prstGeom prst="roundRect">
            <a:avLst>
              <a:gd name="adj" fmla="val 5263"/>
            </a:avLst>
          </a:prstGeom>
          <a:solidFill>
            <a:srgbClr val="FFFFFF"/>
          </a:solidFill>
          <a:ln/>
        </p:spPr>
      </p:sp>
      <p:sp>
        <p:nvSpPr>
          <p:cNvPr id="13" name="Shape 11"/>
          <p:cNvSpPr/>
          <p:nvPr/>
        </p:nvSpPr>
        <p:spPr>
          <a:xfrm>
            <a:off x="7992534" y="1996414"/>
            <a:ext cx="3386667" cy="1930334"/>
          </a:xfrm>
          <a:custGeom>
            <a:avLst/>
            <a:gdLst/>
            <a:ahLst/>
            <a:cxnLst/>
            <a:rect l="l" t="t" r="r" b="b"/>
            <a:pathLst>
              <a:path w="3386667" h="1930334">
                <a:moveTo>
                  <a:pt x="0" y="101600"/>
                </a:moveTo>
                <a:lnTo>
                  <a:pt x="0" y="101600"/>
                </a:lnTo>
                <a:arcTo hR="101600" wR="101600" stAng="10800000" swAng="5400000"/>
                <a:lnTo>
                  <a:pt x="3285067" y="0"/>
                </a:lnTo>
                <a:arcTo hR="101600" wR="101600" stAng="16200000" swAng="5400000"/>
                <a:lnTo>
                  <a:pt x="3386667" y="101600"/>
                </a:lnTo>
                <a:arcTo hR="50800" wR="101600" stAng="0" swAng="-5400000"/>
                <a:lnTo>
                  <a:pt x="101600" y="50800"/>
                </a:lnTo>
                <a:arcTo hR="50800" wR="101600" stAng="16200000" swAng="-5400000"/>
                <a:close/>
              </a:path>
            </a:pathLst>
          </a:custGeom>
          <a:solidFill>
            <a:srgbClr val="F2B701"/>
          </a:solidFill>
          <a:ln/>
        </p:spPr>
      </p:sp>
      <p:sp>
        <p:nvSpPr>
          <p:cNvPr id="14" name="Text 12"/>
          <p:cNvSpPr/>
          <p:nvPr/>
        </p:nvSpPr>
        <p:spPr>
          <a:xfrm>
            <a:off x="8246534" y="2301214"/>
            <a:ext cx="296502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029"/>
                </a:solidFill>
                <a:latin typeface="Arial" pitchFamily="34" charset="0"/>
                <a:ea typeface="Arial" pitchFamily="34" charset="-122"/>
                <a:cs typeface="Arial" pitchFamily="34" charset="-120"/>
              </a:rPr>
              <a:t>Target variable</a:t>
            </a:r>
            <a:endParaRPr lang="en-US" sz="1800" dirty="0"/>
          </a:p>
        </p:txBody>
      </p:sp>
      <p:sp>
        <p:nvSpPr>
          <p:cNvPr id="15" name="Text 13"/>
          <p:cNvSpPr/>
          <p:nvPr/>
        </p:nvSpPr>
        <p:spPr>
          <a:xfrm>
            <a:off x="8246534" y="2677120"/>
            <a:ext cx="2965027" cy="52321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652"/>
                </a:solidFill>
                <a:latin typeface="Arial" pitchFamily="34" charset="0"/>
                <a:ea typeface="Arial" pitchFamily="34" charset="-122"/>
                <a:cs typeface="Arial" pitchFamily="34" charset="-120"/>
              </a:rPr>
              <a:t>is_taxi</a:t>
            </a:r>
            <a:r>
              <a:rPr lang="en-US" sz="1400" dirty="0">
                <a:solidFill>
                  <a:srgbClr val="3E4652"/>
                </a:solidFill>
                <a:latin typeface="Arial" pitchFamily="34" charset="0"/>
                <a:ea typeface="Arial" pitchFamily="34" charset="-122"/>
                <a:cs typeface="Arial" pitchFamily="34" charset="-120"/>
              </a:rPr>
              <a:t> = 1 if the trip was a Yellow Taxi, 0 if Uber or Lyft.</a:t>
            </a:r>
            <a:endParaRPr lang="en-US" sz="1400" dirty="0"/>
          </a:p>
        </p:txBody>
      </p:sp>
      <p:sp>
        <p:nvSpPr>
          <p:cNvPr id="16" name="Text 14"/>
          <p:cNvSpPr/>
          <p:nvPr/>
        </p:nvSpPr>
        <p:spPr>
          <a:xfrm>
            <a:off x="812800" y="4282348"/>
            <a:ext cx="2563876" cy="665427"/>
          </a:xfrm>
          <a:prstGeom prst="rect">
            <a:avLst/>
          </a:prstGeom>
          <a:noFill/>
          <a:ln/>
        </p:spPr>
        <p:txBody>
          <a:bodyPr wrap="square" lIns="0" tIns="0" rIns="0" bIns="0" rtlCol="0" anchor="t">
            <a:normAutofit/>
          </a:bodyPr>
          <a:lstStyle/>
          <a:p>
            <a:pPr algn="l" indent="0" marL="0">
              <a:lnSpc>
                <a:spcPts val="5040"/>
              </a:lnSpc>
              <a:buNone/>
            </a:pPr>
            <a:r>
              <a:rPr lang="en-US" sz="3600" dirty="0">
                <a:solidFill>
                  <a:srgbClr val="1B2029"/>
                </a:solidFill>
                <a:latin typeface="Arial" pitchFamily="34" charset="0"/>
                <a:ea typeface="Arial" pitchFamily="34" charset="-122"/>
                <a:cs typeface="Arial" pitchFamily="34" charset="-120"/>
              </a:rPr>
              <a:t>6.8 GB</a:t>
            </a:r>
            <a:endParaRPr lang="en-US" sz="3600" dirty="0"/>
          </a:p>
        </p:txBody>
      </p:sp>
      <p:sp>
        <p:nvSpPr>
          <p:cNvPr id="17" name="Text 15"/>
          <p:cNvSpPr/>
          <p:nvPr/>
        </p:nvSpPr>
        <p:spPr>
          <a:xfrm>
            <a:off x="812800" y="4947775"/>
            <a:ext cx="256387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Arial" pitchFamily="34" charset="0"/>
                <a:ea typeface="Arial" pitchFamily="34" charset="-122"/>
                <a:cs typeface="Arial" pitchFamily="34" charset="-120"/>
              </a:rPr>
              <a:t>24 monthly Parquet files, 2025</a:t>
            </a:r>
            <a:endParaRPr lang="en-US" sz="1300" dirty="0"/>
          </a:p>
        </p:txBody>
      </p:sp>
      <p:sp>
        <p:nvSpPr>
          <p:cNvPr id="18" name="Text 16"/>
          <p:cNvSpPr/>
          <p:nvPr/>
        </p:nvSpPr>
        <p:spPr>
          <a:xfrm>
            <a:off x="3505200" y="4282348"/>
            <a:ext cx="2563876" cy="665427"/>
          </a:xfrm>
          <a:prstGeom prst="rect">
            <a:avLst/>
          </a:prstGeom>
          <a:noFill/>
          <a:ln/>
        </p:spPr>
        <p:txBody>
          <a:bodyPr wrap="square" lIns="0" tIns="0" rIns="0" bIns="0" rtlCol="0" anchor="t">
            <a:normAutofit/>
          </a:bodyPr>
          <a:lstStyle/>
          <a:p>
            <a:pPr algn="l" indent="0" marL="0">
              <a:lnSpc>
                <a:spcPts val="5040"/>
              </a:lnSpc>
              <a:buNone/>
            </a:pPr>
            <a:r>
              <a:rPr lang="en-US" sz="3600" dirty="0">
                <a:solidFill>
                  <a:srgbClr val="1B2029"/>
                </a:solidFill>
                <a:latin typeface="Arial" pitchFamily="34" charset="0"/>
                <a:ea typeface="Arial" pitchFamily="34" charset="-122"/>
                <a:cs typeface="Arial" pitchFamily="34" charset="-120"/>
              </a:rPr>
              <a:t>292 M</a:t>
            </a:r>
            <a:endParaRPr lang="en-US" sz="3600" dirty="0"/>
          </a:p>
        </p:txBody>
      </p:sp>
      <p:sp>
        <p:nvSpPr>
          <p:cNvPr id="19" name="Text 17"/>
          <p:cNvSpPr/>
          <p:nvPr/>
        </p:nvSpPr>
        <p:spPr>
          <a:xfrm>
            <a:off x="3505200" y="4947775"/>
            <a:ext cx="256387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Arial" pitchFamily="34" charset="0"/>
                <a:ea typeface="Arial" pitchFamily="34" charset="-122"/>
                <a:cs typeface="Arial" pitchFamily="34" charset="-120"/>
              </a:rPr>
              <a:t>raw trip records</a:t>
            </a:r>
            <a:endParaRPr lang="en-US" sz="1300" dirty="0"/>
          </a:p>
        </p:txBody>
      </p:sp>
      <p:sp>
        <p:nvSpPr>
          <p:cNvPr id="20" name="Text 18"/>
          <p:cNvSpPr/>
          <p:nvPr/>
        </p:nvSpPr>
        <p:spPr>
          <a:xfrm>
            <a:off x="6197600" y="4282348"/>
            <a:ext cx="2563876" cy="665427"/>
          </a:xfrm>
          <a:prstGeom prst="rect">
            <a:avLst/>
          </a:prstGeom>
          <a:noFill/>
          <a:ln/>
        </p:spPr>
        <p:txBody>
          <a:bodyPr wrap="square" lIns="0" tIns="0" rIns="0" bIns="0" rtlCol="0" anchor="t">
            <a:normAutofit/>
          </a:bodyPr>
          <a:lstStyle/>
          <a:p>
            <a:pPr algn="l" indent="0" marL="0">
              <a:lnSpc>
                <a:spcPts val="5040"/>
              </a:lnSpc>
              <a:buNone/>
            </a:pPr>
            <a:r>
              <a:rPr lang="en-US" sz="3600" dirty="0">
                <a:solidFill>
                  <a:srgbClr val="1B2029"/>
                </a:solidFill>
                <a:latin typeface="Arial" pitchFamily="34" charset="0"/>
                <a:ea typeface="Arial" pitchFamily="34" charset="-122"/>
                <a:cs typeface="Arial" pitchFamily="34" charset="-120"/>
              </a:rPr>
              <a:t>2 sources</a:t>
            </a:r>
            <a:endParaRPr lang="en-US" sz="3600" dirty="0"/>
          </a:p>
        </p:txBody>
      </p:sp>
      <p:sp>
        <p:nvSpPr>
          <p:cNvPr id="21" name="Text 19"/>
          <p:cNvSpPr/>
          <p:nvPr/>
        </p:nvSpPr>
        <p:spPr>
          <a:xfrm>
            <a:off x="6197600" y="4947775"/>
            <a:ext cx="256387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Arial" pitchFamily="34" charset="0"/>
                <a:ea typeface="Arial" pitchFamily="34" charset="-122"/>
                <a:cs typeface="Arial" pitchFamily="34" charset="-120"/>
              </a:rPr>
              <a:t>Yellow Taxi + High Volume FHV</a:t>
            </a:r>
            <a:endParaRPr lang="en-US" sz="1300" dirty="0"/>
          </a:p>
        </p:txBody>
      </p:sp>
      <p:sp>
        <p:nvSpPr>
          <p:cNvPr id="22" name="Text 20"/>
          <p:cNvSpPr/>
          <p:nvPr/>
        </p:nvSpPr>
        <p:spPr>
          <a:xfrm>
            <a:off x="8890000" y="4282348"/>
            <a:ext cx="2563876" cy="665427"/>
          </a:xfrm>
          <a:prstGeom prst="rect">
            <a:avLst/>
          </a:prstGeom>
          <a:noFill/>
          <a:ln/>
        </p:spPr>
        <p:txBody>
          <a:bodyPr wrap="square" lIns="0" tIns="0" rIns="0" bIns="0" rtlCol="0" anchor="t">
            <a:normAutofit/>
          </a:bodyPr>
          <a:lstStyle/>
          <a:p>
            <a:pPr algn="l" indent="0" marL="0">
              <a:lnSpc>
                <a:spcPts val="5040"/>
              </a:lnSpc>
              <a:buNone/>
            </a:pPr>
            <a:r>
              <a:rPr lang="en-US" sz="3600" dirty="0">
                <a:solidFill>
                  <a:srgbClr val="1B2029"/>
                </a:solidFill>
                <a:latin typeface="Arial" pitchFamily="34" charset="0"/>
                <a:ea typeface="Arial" pitchFamily="34" charset="-122"/>
                <a:cs typeface="Arial" pitchFamily="34" charset="-120"/>
              </a:rPr>
              <a:t>+2 context</a:t>
            </a:r>
            <a:endParaRPr lang="en-US" sz="3600" dirty="0"/>
          </a:p>
        </p:txBody>
      </p:sp>
      <p:sp>
        <p:nvSpPr>
          <p:cNvPr id="23" name="Text 21"/>
          <p:cNvSpPr/>
          <p:nvPr/>
        </p:nvSpPr>
        <p:spPr>
          <a:xfrm>
            <a:off x="8890000" y="4947775"/>
            <a:ext cx="256387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Arial" pitchFamily="34" charset="0"/>
                <a:ea typeface="Arial" pitchFamily="34" charset="-122"/>
                <a:cs typeface="Arial" pitchFamily="34" charset="-120"/>
              </a:rPr>
              <a:t>taxi zones, daily weather</a:t>
            </a:r>
            <a:endParaRPr lang="en-US" sz="1300" dirty="0"/>
          </a:p>
        </p:txBody>
      </p:sp>
      <p:sp>
        <p:nvSpPr>
          <p:cNvPr id="24"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Source: NYC Taxi &amp; Limousine Commission, TLC Trip Record Data · Open-Meteo archive · 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7A5A00"/>
                </a:solidFill>
                <a:latin typeface="Arial" pitchFamily="34" charset="0"/>
                <a:ea typeface="Arial" pitchFamily="34" charset="-122"/>
                <a:cs typeface="Arial" pitchFamily="34" charset="-120"/>
              </a:rPr>
              <a:t>D · E · F · G · ARCHITECTURE</a:t>
            </a:r>
            <a:endParaRPr lang="en-US" sz="1400" dirty="0"/>
          </a:p>
        </p:txBody>
      </p:sp>
      <p:sp>
        <p:nvSpPr>
          <p:cNvPr id="3" name="Text 1"/>
          <p:cNvSpPr/>
          <p:nvPr>
            <p:ph type="title"/>
          </p:nvPr>
        </p:nvSpPr>
        <p:spPr>
          <a:xfrm>
            <a:off x="812800" y="1137907"/>
            <a:ext cx="10883392" cy="1031214"/>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029"/>
                </a:solidFill>
                <a:latin typeface="Arial" pitchFamily="34" charset="0"/>
                <a:ea typeface="Arial" pitchFamily="34" charset="-122"/>
                <a:cs typeface="Arial" pitchFamily="34" charset="-120"/>
              </a:rPr>
              <a:t>One recurring pipeline from raw files to the dashboard</a:t>
            </a:r>
            <a:endParaRPr lang="en-US" sz="3600" dirty="0"/>
          </a:p>
        </p:txBody>
      </p:sp>
      <p:sp>
        <p:nvSpPr>
          <p:cNvPr id="4" name="Shape 2"/>
          <p:cNvSpPr/>
          <p:nvPr/>
        </p:nvSpPr>
        <p:spPr>
          <a:xfrm>
            <a:off x="819150" y="2404070"/>
            <a:ext cx="2081146" cy="1356254"/>
          </a:xfrm>
          <a:prstGeom prst="roundRect">
            <a:avLst>
              <a:gd name="adj" fmla="val 7023"/>
            </a:avLst>
          </a:prstGeom>
          <a:solidFill>
            <a:srgbClr val="FFFFFF"/>
          </a:solidFill>
          <a:ln w="12700">
            <a:solidFill>
              <a:srgbClr val="D9D5CA"/>
            </a:solidFill>
            <a:prstDash val="solid"/>
          </a:ln>
        </p:spPr>
      </p:sp>
      <p:sp>
        <p:nvSpPr>
          <p:cNvPr id="5" name="Text 3"/>
          <p:cNvSpPr/>
          <p:nvPr/>
        </p:nvSpPr>
        <p:spPr>
          <a:xfrm>
            <a:off x="1028700" y="2613620"/>
            <a:ext cx="171284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029"/>
                </a:solidFill>
                <a:latin typeface="Arial" pitchFamily="34" charset="0"/>
                <a:ea typeface="Arial" pitchFamily="34" charset="-122"/>
                <a:cs typeface="Arial" pitchFamily="34" charset="-120"/>
              </a:rPr>
              <a:t>TLC files</a:t>
            </a:r>
            <a:endParaRPr lang="en-US" sz="1600" dirty="0"/>
          </a:p>
        </p:txBody>
      </p:sp>
      <p:sp>
        <p:nvSpPr>
          <p:cNvPr id="6" name="Text 4"/>
          <p:cNvSpPr/>
          <p:nvPr/>
        </p:nvSpPr>
        <p:spPr>
          <a:xfrm>
            <a:off x="1028700" y="2933635"/>
            <a:ext cx="1712846"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0"/>
                </a:solidFill>
                <a:latin typeface="Arial" pitchFamily="34" charset="0"/>
                <a:ea typeface="Arial" pitchFamily="34" charset="-122"/>
                <a:cs typeface="Arial" pitchFamily="34" charset="-120"/>
              </a:rPr>
              <a:t>24 Parquet files, 6.8 GB, stay local</a:t>
            </a:r>
            <a:endParaRPr lang="en-US" sz="1200" dirty="0"/>
          </a:p>
        </p:txBody>
      </p:sp>
      <p:pic>
        <p:nvPicPr>
          <p:cNvPr id="7" name="Image 0" descr="connector">    </p:cNvPr>
          <p:cNvPicPr>
            <a:picLocks noChangeAspect="1"/>
          </p:cNvPicPr>
          <p:nvPr/>
        </p:nvPicPr>
        <p:blipFill>
          <a:blip r:embed="rId1"/>
          <a:srcRect l="0" r="0" t="0" b="0"/>
          <a:stretch/>
        </p:blipFill>
        <p:spPr>
          <a:xfrm>
            <a:off x="2906646" y="2397720"/>
            <a:ext cx="406400" cy="101600"/>
          </a:xfrm>
          <a:prstGeom prst="rect">
            <a:avLst/>
          </a:prstGeom>
        </p:spPr>
      </p:pic>
      <p:sp>
        <p:nvSpPr>
          <p:cNvPr id="8" name="Shape 5"/>
          <p:cNvSpPr/>
          <p:nvPr/>
        </p:nvSpPr>
        <p:spPr>
          <a:xfrm>
            <a:off x="3313047" y="2397720"/>
            <a:ext cx="3065661" cy="1368954"/>
          </a:xfrm>
          <a:prstGeom prst="roundRect">
            <a:avLst>
              <a:gd name="adj" fmla="val 7422"/>
            </a:avLst>
          </a:prstGeom>
          <a:solidFill>
            <a:srgbClr val="1B2029"/>
          </a:solidFill>
          <a:ln/>
        </p:spPr>
      </p:sp>
      <p:sp>
        <p:nvSpPr>
          <p:cNvPr id="9" name="Text 6"/>
          <p:cNvSpPr/>
          <p:nvPr/>
        </p:nvSpPr>
        <p:spPr>
          <a:xfrm>
            <a:off x="3516247" y="2600920"/>
            <a:ext cx="273903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B701"/>
                </a:solidFill>
                <a:latin typeface="Arial" pitchFamily="34" charset="0"/>
                <a:ea typeface="Arial" pitchFamily="34" charset="-122"/>
                <a:cs typeface="Arial" pitchFamily="34" charset="-120"/>
              </a:rPr>
              <a:t>Prefect flow</a:t>
            </a:r>
            <a:endParaRPr lang="en-US" sz="1600" dirty="0"/>
          </a:p>
        </p:txBody>
      </p:sp>
      <p:sp>
        <p:nvSpPr>
          <p:cNvPr id="10" name="Text 7"/>
          <p:cNvSpPr/>
          <p:nvPr/>
        </p:nvSpPr>
        <p:spPr>
          <a:xfrm>
            <a:off x="3516247" y="2920935"/>
            <a:ext cx="2739039"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CDD3"/>
                </a:solidFill>
                <a:latin typeface="Arial" pitchFamily="34" charset="0"/>
                <a:ea typeface="Arial" pitchFamily="34" charset="-122"/>
                <a:cs typeface="Arial" pitchFamily="34" charset="-120"/>
              </a:rPr>
              <a:t>discover new months → context data → clean with Dask → 8 quality rules → aggregate with Dask → load</a:t>
            </a:r>
            <a:endParaRPr lang="en-US" sz="1200" dirty="0"/>
          </a:p>
        </p:txBody>
      </p:sp>
      <p:pic>
        <p:nvPicPr>
          <p:cNvPr id="11" name="Image 1" descr="connector">    </p:cNvPr>
          <p:cNvPicPr>
            <a:picLocks noChangeAspect="1"/>
          </p:cNvPicPr>
          <p:nvPr/>
        </p:nvPicPr>
        <p:blipFill>
          <a:blip r:embed="rId2"/>
          <a:srcRect l="0" r="0" t="0" b="0"/>
          <a:stretch/>
        </p:blipFill>
        <p:spPr>
          <a:xfrm>
            <a:off x="6378708" y="2397720"/>
            <a:ext cx="406400" cy="101600"/>
          </a:xfrm>
          <a:prstGeom prst="rect">
            <a:avLst/>
          </a:prstGeom>
        </p:spPr>
      </p:pic>
      <p:sp>
        <p:nvSpPr>
          <p:cNvPr id="12" name="Shape 8"/>
          <p:cNvSpPr/>
          <p:nvPr/>
        </p:nvSpPr>
        <p:spPr>
          <a:xfrm>
            <a:off x="6791458" y="2404070"/>
            <a:ext cx="2081146" cy="1356254"/>
          </a:xfrm>
          <a:prstGeom prst="roundRect">
            <a:avLst>
              <a:gd name="adj" fmla="val 7023"/>
            </a:avLst>
          </a:prstGeom>
          <a:solidFill>
            <a:srgbClr val="FFFFFF"/>
          </a:solidFill>
          <a:ln w="12700">
            <a:solidFill>
              <a:srgbClr val="D9D5CA"/>
            </a:solidFill>
            <a:prstDash val="solid"/>
          </a:ln>
        </p:spPr>
      </p:sp>
      <p:sp>
        <p:nvSpPr>
          <p:cNvPr id="13" name="Text 9"/>
          <p:cNvSpPr/>
          <p:nvPr/>
        </p:nvSpPr>
        <p:spPr>
          <a:xfrm>
            <a:off x="7001008" y="2613620"/>
            <a:ext cx="171284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029"/>
                </a:solidFill>
                <a:latin typeface="Arial" pitchFamily="34" charset="0"/>
                <a:ea typeface="Arial" pitchFamily="34" charset="-122"/>
                <a:cs typeface="Arial" pitchFamily="34" charset="-120"/>
              </a:rPr>
              <a:t>AWS RDS</a:t>
            </a:r>
            <a:endParaRPr lang="en-US" sz="1600" dirty="0"/>
          </a:p>
        </p:txBody>
      </p:sp>
      <p:sp>
        <p:nvSpPr>
          <p:cNvPr id="14" name="Text 10"/>
          <p:cNvSpPr/>
          <p:nvPr/>
        </p:nvSpPr>
        <p:spPr>
          <a:xfrm>
            <a:off x="7001008" y="2933635"/>
            <a:ext cx="1712846"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0"/>
                </a:solidFill>
                <a:latin typeface="Arial" pitchFamily="34" charset="0"/>
                <a:ea typeface="Arial" pitchFamily="34" charset="-122"/>
                <a:cs typeface="Arial" pitchFamily="34" charset="-120"/>
              </a:rPr>
              <a:t>PostgreSQL, only KPI tables, quality log, run log</a:t>
            </a:r>
            <a:endParaRPr lang="en-US" sz="1200" dirty="0"/>
          </a:p>
        </p:txBody>
      </p:sp>
      <p:pic>
        <p:nvPicPr>
          <p:cNvPr id="15" name="Image 2" descr="connector">    </p:cNvPr>
          <p:cNvPicPr>
            <a:picLocks noChangeAspect="1"/>
          </p:cNvPicPr>
          <p:nvPr/>
        </p:nvPicPr>
        <p:blipFill>
          <a:blip r:embed="rId3"/>
          <a:srcRect l="0" r="0" t="0" b="0"/>
          <a:stretch/>
        </p:blipFill>
        <p:spPr>
          <a:xfrm>
            <a:off x="8878954" y="2397720"/>
            <a:ext cx="406400" cy="101600"/>
          </a:xfrm>
          <a:prstGeom prst="rect">
            <a:avLst/>
          </a:prstGeom>
        </p:spPr>
      </p:pic>
      <p:sp>
        <p:nvSpPr>
          <p:cNvPr id="16" name="Shape 11"/>
          <p:cNvSpPr/>
          <p:nvPr/>
        </p:nvSpPr>
        <p:spPr>
          <a:xfrm>
            <a:off x="9291704" y="2404070"/>
            <a:ext cx="2081146" cy="1356254"/>
          </a:xfrm>
          <a:prstGeom prst="roundRect">
            <a:avLst>
              <a:gd name="adj" fmla="val 7023"/>
            </a:avLst>
          </a:prstGeom>
          <a:solidFill>
            <a:srgbClr val="FFFFFF"/>
          </a:solidFill>
          <a:ln w="12700">
            <a:solidFill>
              <a:srgbClr val="D9D5CA"/>
            </a:solidFill>
            <a:prstDash val="solid"/>
          </a:ln>
        </p:spPr>
      </p:sp>
      <p:sp>
        <p:nvSpPr>
          <p:cNvPr id="17" name="Text 12"/>
          <p:cNvSpPr/>
          <p:nvPr/>
        </p:nvSpPr>
        <p:spPr>
          <a:xfrm>
            <a:off x="9501254" y="2613620"/>
            <a:ext cx="171284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029"/>
                </a:solidFill>
                <a:latin typeface="Arial" pitchFamily="34" charset="0"/>
                <a:ea typeface="Arial" pitchFamily="34" charset="-122"/>
                <a:cs typeface="Arial" pitchFamily="34" charset="-120"/>
              </a:rPr>
              <a:t>Grafana</a:t>
            </a:r>
            <a:endParaRPr lang="en-US" sz="1600" dirty="0"/>
          </a:p>
        </p:txBody>
      </p:sp>
      <p:sp>
        <p:nvSpPr>
          <p:cNvPr id="18" name="Text 13"/>
          <p:cNvSpPr/>
          <p:nvPr/>
        </p:nvSpPr>
        <p:spPr>
          <a:xfrm>
            <a:off x="9501254" y="2933635"/>
            <a:ext cx="1712846"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0"/>
                </a:solidFill>
                <a:latin typeface="Arial" pitchFamily="34" charset="0"/>
                <a:ea typeface="Arial" pitchFamily="34" charset="-122"/>
                <a:cs typeface="Arial" pitchFamily="34" charset="-120"/>
              </a:rPr>
              <a:t>15-panel management dashboard</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5500" y="4033376"/>
          <a:ext cx="10553700" cy="1796521"/>
        </p:xfrm>
        <a:graphic>
          <a:graphicData uri="http://schemas.openxmlformats.org/drawingml/2006/table">
            <a:tbl>
              <a:tblPr/>
              <a:tblGrid>
                <a:gridCol w="3588258"/>
                <a:gridCol w="4643628"/>
                <a:gridCol w="2321814"/>
              </a:tblGrid>
              <a:tr h="359304">
                <a:tc>
                  <a:txBody>
                    <a:bodyPr/>
                    <a:lstStyle/>
                    <a:p>
                      <a:pPr indent="0" marL="0">
                        <a:lnSpc>
                          <a:spcPts val="1820"/>
                        </a:lnSpc>
                        <a:buNone/>
                      </a:pPr>
                      <a:r>
                        <a:rPr lang="en-US" sz="1300" b="1" dirty="0">
                          <a:solidFill>
                            <a:srgbClr val="1B2029"/>
                          </a:solidFill>
                          <a:latin typeface="Arial" pitchFamily="34" charset="0"/>
                          <a:ea typeface="Arial" pitchFamily="34" charset="-122"/>
                          <a:cs typeface="Arial" pitchFamily="34" charset="-120"/>
                        </a:rPr>
                        <a:t>Result table in AWS</a:t>
                      </a:r>
                      <a:endParaRPr lang="en-US" sz="1300" dirty="0">
                        <a:latin typeface="Arial" charset="0"/>
                        <a:ea typeface="Arial" charset="0"/>
                        <a:cs typeface="Arial"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820"/>
                        </a:lnSpc>
                        <a:buNone/>
                      </a:pPr>
                      <a:r>
                        <a:rPr lang="en-US" sz="1300" b="1" dirty="0">
                          <a:solidFill>
                            <a:srgbClr val="1B2029"/>
                          </a:solidFill>
                          <a:latin typeface="Arial" pitchFamily="34" charset="0"/>
                          <a:ea typeface="Arial" pitchFamily="34" charset="-122"/>
                          <a:cs typeface="Arial" pitchFamily="34" charset="-120"/>
                        </a:rPr>
                        <a:t>Grain</a:t>
                      </a:r>
                      <a:endParaRPr lang="en-US" sz="1300" dirty="0">
                        <a:latin typeface="Arial" charset="0"/>
                        <a:ea typeface="Arial" charset="0"/>
                        <a:cs typeface="Arial" charset="0"/>
                      </a:endParaRPr>
                    </a:p>
                  </a:txBody>
                  <a:tcPr marL="57785" marR="57785" marT="57785" marB="57785"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algn="r" indent="0" marL="0">
                        <a:lnSpc>
                          <a:spcPts val="1820"/>
                        </a:lnSpc>
                        <a:buNone/>
                      </a:pPr>
                      <a:r>
                        <a:rPr lang="en-US" sz="1300" b="1" dirty="0">
                          <a:solidFill>
                            <a:srgbClr val="1B2029"/>
                          </a:solidFill>
                          <a:latin typeface="Arial" pitchFamily="34" charset="0"/>
                          <a:ea typeface="Arial" pitchFamily="34" charset="-122"/>
                          <a:cs typeface="Arial" pitchFamily="34" charset="-120"/>
                        </a:rPr>
                        <a:t>Rows</a:t>
                      </a:r>
                      <a:endParaRPr lang="en-US" sz="1300" dirty="0">
                        <a:latin typeface="Arial" charset="0"/>
                        <a:ea typeface="Arial" charset="0"/>
                        <a:cs typeface="Arial" charset="0"/>
                      </a:endParaRPr>
                    </a:p>
                  </a:txBody>
                  <a:tcPr marL="57785" marR="57785" marT="57785" marB="57785"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359304">
                <a:tc>
                  <a:txBody>
                    <a:bodyPr/>
                    <a:lstStyle/>
                    <a:p>
                      <a:pPr indent="0" marL="0">
                        <a:lnSpc>
                          <a:spcPts val="1820"/>
                        </a:lnSpc>
                        <a:buNone/>
                      </a:pPr>
                      <a:r>
                        <a:rPr lang="en-US" sz="1300" dirty="0">
                          <a:solidFill>
                            <a:srgbClr val="1B2029"/>
                          </a:solidFill>
                          <a:latin typeface="Arial" pitchFamily="34" charset="0"/>
                          <a:ea typeface="Arial" pitchFamily="34" charset="-122"/>
                          <a:cs typeface="Arial" pitchFamily="34" charset="-120"/>
                        </a:rPr>
                        <a:t>service_month_kpi</a:t>
                      </a:r>
                      <a:endParaRPr lang="en-US" sz="1300" dirty="0">
                        <a:latin typeface="Arial" charset="0"/>
                        <a:ea typeface="Arial" charset="0"/>
                        <a:cs typeface="Arial"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B2029"/>
                          </a:solidFill>
                          <a:latin typeface="Arial" pitchFamily="34" charset="0"/>
                          <a:ea typeface="Arial" pitchFamily="34" charset="-122"/>
                          <a:cs typeface="Arial" pitchFamily="34" charset="-120"/>
                        </a:rPr>
                        <a:t>month × service</a:t>
                      </a:r>
                      <a:endParaRPr lang="en-US" sz="1300" dirty="0">
                        <a:latin typeface="Arial" charset="0"/>
                        <a:ea typeface="Arial" charset="0"/>
                        <a:cs typeface="Arial"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820"/>
                        </a:lnSpc>
                        <a:buNone/>
                      </a:pPr>
                      <a:r>
                        <a:rPr lang="en-US" sz="1300" dirty="0">
                          <a:solidFill>
                            <a:srgbClr val="1B2029"/>
                          </a:solidFill>
                          <a:latin typeface="Arial" pitchFamily="34" charset="0"/>
                          <a:ea typeface="Arial" pitchFamily="34" charset="-122"/>
                          <a:cs typeface="Arial" pitchFamily="34" charset="-120"/>
                        </a:rPr>
                        <a:t>36</a:t>
                      </a:r>
                      <a:endParaRPr lang="en-US" sz="1300" dirty="0">
                        <a:latin typeface="Arial" charset="0"/>
                        <a:ea typeface="Arial" charset="0"/>
                        <a:cs typeface="Arial"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029"/>
                          </a:solidFill>
                          <a:latin typeface="Arial" pitchFamily="34" charset="0"/>
                          <a:ea typeface="Arial" pitchFamily="34" charset="-122"/>
                          <a:cs typeface="Arial" pitchFamily="34" charset="-120"/>
                        </a:rPr>
                        <a:t>zone_month_kpi</a:t>
                      </a:r>
                      <a:endParaRPr lang="en-US" sz="1300" dirty="0">
                        <a:latin typeface="Arial" charset="0"/>
                        <a:ea typeface="Arial" charset="0"/>
                        <a:cs typeface="Arial"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B2029"/>
                          </a:solidFill>
                          <a:latin typeface="Arial" pitchFamily="34" charset="0"/>
                          <a:ea typeface="Arial" pitchFamily="34" charset="-122"/>
                          <a:cs typeface="Arial" pitchFamily="34" charset="-120"/>
                        </a:rPr>
                        <a:t>month × pickup zone × service</a:t>
                      </a:r>
                      <a:endParaRPr lang="en-US" sz="1300" dirty="0">
                        <a:latin typeface="Arial" charset="0"/>
                        <a:ea typeface="Arial" charset="0"/>
                        <a:cs typeface="Arial"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820"/>
                        </a:lnSpc>
                        <a:buNone/>
                      </a:pPr>
                      <a:r>
                        <a:rPr lang="en-US" sz="1300" dirty="0">
                          <a:solidFill>
                            <a:srgbClr val="1B2029"/>
                          </a:solidFill>
                          <a:latin typeface="Arial" pitchFamily="34" charset="0"/>
                          <a:ea typeface="Arial" pitchFamily="34" charset="-122"/>
                          <a:cs typeface="Arial" pitchFamily="34" charset="-120"/>
                        </a:rPr>
                        <a:t>9,362</a:t>
                      </a:r>
                      <a:endParaRPr lang="en-US" sz="1300" dirty="0">
                        <a:latin typeface="Arial" charset="0"/>
                        <a:ea typeface="Arial" charset="0"/>
                        <a:cs typeface="Arial"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029"/>
                          </a:solidFill>
                          <a:latin typeface="Arial" pitchFamily="34" charset="0"/>
                          <a:ea typeface="Arial" pitchFamily="34" charset="-122"/>
                          <a:cs typeface="Arial" pitchFamily="34" charset="-120"/>
                        </a:rPr>
                        <a:t>hour_weekday_kpi</a:t>
                      </a:r>
                      <a:endParaRPr lang="en-US" sz="1300" dirty="0">
                        <a:latin typeface="Arial" charset="0"/>
                        <a:ea typeface="Arial" charset="0"/>
                        <a:cs typeface="Arial"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B2029"/>
                          </a:solidFill>
                          <a:latin typeface="Arial" pitchFamily="34" charset="0"/>
                          <a:ea typeface="Arial" pitchFamily="34" charset="-122"/>
                          <a:cs typeface="Arial" pitchFamily="34" charset="-120"/>
                        </a:rPr>
                        <a:t>month × weekday × hour × service</a:t>
                      </a:r>
                      <a:endParaRPr lang="en-US" sz="1300" dirty="0">
                        <a:latin typeface="Arial" charset="0"/>
                        <a:ea typeface="Arial" charset="0"/>
                        <a:cs typeface="Arial"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820"/>
                        </a:lnSpc>
                        <a:buNone/>
                      </a:pPr>
                      <a:r>
                        <a:rPr lang="en-US" sz="1300" dirty="0">
                          <a:solidFill>
                            <a:srgbClr val="1B2029"/>
                          </a:solidFill>
                          <a:latin typeface="Arial" pitchFamily="34" charset="0"/>
                          <a:ea typeface="Arial" pitchFamily="34" charset="-122"/>
                          <a:cs typeface="Arial" pitchFamily="34" charset="-120"/>
                        </a:rPr>
                        <a:t>6,048</a:t>
                      </a:r>
                      <a:endParaRPr lang="en-US" sz="1300" dirty="0">
                        <a:latin typeface="Arial" charset="0"/>
                        <a:ea typeface="Arial" charset="0"/>
                        <a:cs typeface="Arial"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029"/>
                          </a:solidFill>
                          <a:latin typeface="Arial" pitchFamily="34" charset="0"/>
                          <a:ea typeface="Arial" pitchFamily="34" charset="-122"/>
                          <a:cs typeface="Arial" pitchFamily="34" charset="-120"/>
                        </a:rPr>
                        <a:t>daily_kpi (+ weather)</a:t>
                      </a:r>
                      <a:endParaRPr lang="en-US" sz="1300" dirty="0">
                        <a:latin typeface="Arial" charset="0"/>
                        <a:ea typeface="Arial" charset="0"/>
                        <a:cs typeface="Arial"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820"/>
                        </a:lnSpc>
                        <a:buNone/>
                      </a:pPr>
                      <a:r>
                        <a:rPr lang="en-US" sz="1300" dirty="0">
                          <a:solidFill>
                            <a:srgbClr val="1B2029"/>
                          </a:solidFill>
                          <a:latin typeface="Arial" pitchFamily="34" charset="0"/>
                          <a:ea typeface="Arial" pitchFamily="34" charset="-122"/>
                          <a:cs typeface="Arial" pitchFamily="34" charset="-120"/>
                        </a:rPr>
                        <a:t>day × service</a:t>
                      </a:r>
                      <a:endParaRPr lang="en-US" sz="1300" dirty="0">
                        <a:latin typeface="Arial" charset="0"/>
                        <a:ea typeface="Arial" charset="0"/>
                        <a:cs typeface="Arial"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820"/>
                        </a:lnSpc>
                        <a:buNone/>
                      </a:pPr>
                      <a:r>
                        <a:rPr lang="en-US" sz="1300" dirty="0">
                          <a:solidFill>
                            <a:srgbClr val="1B2029"/>
                          </a:solidFill>
                          <a:latin typeface="Arial" pitchFamily="34" charset="0"/>
                          <a:ea typeface="Arial" pitchFamily="34" charset="-122"/>
                          <a:cs typeface="Arial" pitchFamily="34" charset="-120"/>
                        </a:rPr>
                        <a:t>1,095</a:t>
                      </a:r>
                      <a:endParaRPr lang="en-US" sz="1300" dirty="0">
                        <a:latin typeface="Arial" charset="0"/>
                        <a:ea typeface="Arial" charset="0"/>
                        <a:cs typeface="Arial"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Code: github.com/carlo120702/nyc-taxi-vs-uber-lyft · 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7A5A00"/>
                </a:solidFill>
                <a:latin typeface="Arial" pitchFamily="34" charset="0"/>
                <a:ea typeface="Arial" pitchFamily="34" charset="-122"/>
                <a:cs typeface="Arial" pitchFamily="34" charset="-120"/>
              </a:rPr>
              <a:t>B · C · DATA QUALITY</a:t>
            </a:r>
            <a:endParaRPr lang="en-US" sz="1400" dirty="0"/>
          </a:p>
        </p:txBody>
      </p:sp>
      <p:sp>
        <p:nvSpPr>
          <p:cNvPr id="3" name="Text 1"/>
          <p:cNvSpPr/>
          <p:nvPr>
            <p:ph type="title"/>
          </p:nvPr>
        </p:nvSpPr>
        <p:spPr>
          <a:xfrm>
            <a:off x="812800" y="1137907"/>
            <a:ext cx="10883392" cy="1031214"/>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029"/>
                </a:solidFill>
                <a:latin typeface="Arial" pitchFamily="34" charset="0"/>
                <a:ea typeface="Arial" pitchFamily="34" charset="-122"/>
                <a:cs typeface="Arial" pitchFamily="34" charset="-120"/>
              </a:rPr>
              <a:t>Taxi meter data needs far more cleaning than app data</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512020"/>
          <a:ext cx="5617633" cy="1929805"/>
        </p:xfrm>
        <a:graphic>
          <a:graphicData uri="http://schemas.openxmlformats.org/drawingml/2006/table">
            <a:tbl>
              <a:tblPr/>
              <a:tblGrid>
                <a:gridCol w="2921169"/>
                <a:gridCol w="1348232"/>
                <a:gridCol w="1348232"/>
              </a:tblGrid>
              <a:tr h="385961">
                <a:tc>
                  <a:txBody>
                    <a:bodyPr/>
                    <a:lstStyle/>
                    <a:p>
                      <a:pPr indent="0" marL="0">
                        <a:lnSpc>
                          <a:spcPts val="1960"/>
                        </a:lnSpc>
                        <a:buNone/>
                      </a:pPr>
                      <a:r>
                        <a:rPr lang="en-US" sz="1400" b="1" dirty="0">
                          <a:solidFill>
                            <a:srgbClr val="1B2029"/>
                          </a:solidFill>
                          <a:latin typeface="Arial" pitchFamily="34" charset="0"/>
                          <a:ea typeface="Arial" pitchFamily="34" charset="-122"/>
                          <a:cs typeface="Arial" pitchFamily="34" charset="-120"/>
                        </a:rPr>
                        <a:t>Share of raw rows</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algn="r" indent="0" marL="0">
                        <a:lnSpc>
                          <a:spcPts val="1960"/>
                        </a:lnSpc>
                        <a:buNone/>
                      </a:pPr>
                      <a:r>
                        <a:rPr lang="en-US" sz="1400" b="1" dirty="0">
                          <a:solidFill>
                            <a:srgbClr val="1B2029"/>
                          </a:solidFill>
                          <a:latin typeface="Arial" pitchFamily="34" charset="0"/>
                          <a:ea typeface="Arial" pitchFamily="34" charset="-122"/>
                          <a:cs typeface="Arial" pitchFamily="34" charset="-120"/>
                        </a:rPr>
                        <a:t>Yellow Taxi</a:t>
                      </a:r>
                      <a:endParaRPr lang="en-US" sz="1400" dirty="0">
                        <a:latin typeface="Arial" charset="0"/>
                        <a:ea typeface="Arial" charset="0"/>
                        <a:cs typeface="Arial" charset="0"/>
                      </a:endParaRPr>
                    </a:p>
                  </a:txBody>
                  <a:tcPr marL="62230" marR="62230" marT="62230" marB="6223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algn="r" indent="0" marL="0">
                        <a:lnSpc>
                          <a:spcPts val="1960"/>
                        </a:lnSpc>
                        <a:buNone/>
                      </a:pPr>
                      <a:r>
                        <a:rPr lang="en-US" sz="1400" b="1" dirty="0">
                          <a:solidFill>
                            <a:srgbClr val="1B2029"/>
                          </a:solidFill>
                          <a:latin typeface="Arial" pitchFamily="34" charset="0"/>
                          <a:ea typeface="Arial" pitchFamily="34" charset="-122"/>
                          <a:cs typeface="Arial" pitchFamily="34" charset="-120"/>
                        </a:rPr>
                        <a:t>Uber / Lyft</a:t>
                      </a:r>
                      <a:endParaRPr lang="en-US" sz="1400" dirty="0">
                        <a:latin typeface="Arial" charset="0"/>
                        <a:ea typeface="Arial" charset="0"/>
                        <a:cs typeface="Arial" charset="0"/>
                      </a:endParaRPr>
                    </a:p>
                  </a:txBody>
                  <a:tcPr marL="62230" marR="62230" marT="62230" marB="6223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385961">
                <a:tc>
                  <a:txBody>
                    <a:bodyPr/>
                    <a:lstStyle/>
                    <a:p>
                      <a:pPr indent="0" marL="0">
                        <a:lnSpc>
                          <a:spcPts val="1960"/>
                        </a:lnSpc>
                        <a:buNone/>
                      </a:pPr>
                      <a:r>
                        <a:rPr lang="en-US" sz="1400" dirty="0">
                          <a:solidFill>
                            <a:srgbClr val="1B2029"/>
                          </a:solidFill>
                          <a:latin typeface="Arial" pitchFamily="34" charset="0"/>
                          <a:ea typeface="Arial" pitchFamily="34" charset="-122"/>
                          <a:cs typeface="Arial" pitchFamily="34" charset="-120"/>
                        </a:rPr>
                        <a:t>Negative fare (refunds)</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5.8 %</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0.0 %</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029"/>
                          </a:solidFill>
                          <a:latin typeface="Arial" pitchFamily="34" charset="0"/>
                          <a:ea typeface="Arial" pitchFamily="34" charset="-122"/>
                          <a:cs typeface="Arial" pitchFamily="34" charset="-120"/>
                        </a:rPr>
                        <a:t>Zero distance</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2.9 %</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0.0 %</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029"/>
                          </a:solidFill>
                          <a:latin typeface="Arial" pitchFamily="34" charset="0"/>
                          <a:ea typeface="Arial" pitchFamily="34" charset="-122"/>
                          <a:cs typeface="Arial" pitchFamily="34" charset="-120"/>
                        </a:rPr>
                        <a:t>Duration &lt; 1 min or &gt; 3 h</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2.3 %</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0.0 %</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029"/>
                          </a:solidFill>
                          <a:latin typeface="Arial" pitchFamily="34" charset="0"/>
                          <a:ea typeface="Arial" pitchFamily="34" charset="-122"/>
                          <a:cs typeface="Arial" pitchFamily="34" charset="-120"/>
                        </a:rPr>
                        <a:t>Removed in total</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BCB6A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CB6A6"/>
                      </a:solidFill>
                      <a:prstDash val="solid"/>
                      <a:round/>
                      <a:headEnd type="none" w="med" len="med"/>
                      <a:tailEnd type="none" w="med" len="med"/>
                    </a:lnB>
                    <a:solidFill>
                      <a:srgbClr val="EBE4CF"/>
                    </a:solidFill>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9.7 %</a:t>
                      </a:r>
                      <a:endParaRPr lang="en-US" sz="1400" dirty="0">
                        <a:latin typeface="Arial" charset="0"/>
                        <a:ea typeface="Arial" charset="0"/>
                        <a:cs typeface="Arial" charset="0"/>
                      </a:endParaRPr>
                    </a:p>
                  </a:txBody>
                  <a:tcPr marL="62230" marR="62230" marT="62230" marB="62230" anchor="t">
                    <a:lnL w="12700" cap="flat" cmpd="sng" algn="ctr">
                      <a:solidFill>
                        <a:srgbClr val="BCB6A6"/>
                      </a:solidFill>
                      <a:prstDash val="solid"/>
                      <a:round/>
                      <a:headEnd type="none" w="med" len="med"/>
                      <a:tailEnd type="none" w="med" len="med"/>
                    </a:lnL>
                    <a:lnR w="12700" cap="flat" cmpd="sng" algn="ctr">
                      <a:solidFill>
                        <a:srgbClr val="BCB6A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CB6A6"/>
                      </a:solidFill>
                      <a:prstDash val="solid"/>
                      <a:round/>
                      <a:headEnd type="none" w="med" len="med"/>
                      <a:tailEnd type="none" w="med" len="med"/>
                    </a:lnB>
                    <a:solidFill>
                      <a:srgbClr val="EBE4CF"/>
                    </a:solidFill>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0.2 %</a:t>
                      </a:r>
                      <a:endParaRPr lang="en-US" sz="1400" dirty="0">
                        <a:latin typeface="Arial" charset="0"/>
                        <a:ea typeface="Arial" charset="0"/>
                        <a:cs typeface="Arial" charset="0"/>
                      </a:endParaRPr>
                    </a:p>
                  </a:txBody>
                  <a:tcPr marL="62230" marR="62230" marT="62230" marB="62230" anchor="t">
                    <a:lnL w="12700" cap="flat" cmpd="sng" algn="ctr">
                      <a:solidFill>
                        <a:srgbClr val="BCB6A6"/>
                      </a:solidFill>
                      <a:prstDash val="solid"/>
                      <a:round/>
                      <a:headEnd type="none" w="med" len="med"/>
                      <a:tailEnd type="none" w="med" len="med"/>
                    </a:lnL>
                    <a:lnR w="12700" cap="flat" cmpd="sng" algn="ctr">
                      <a:solidFill>
                        <a:srgbClr val="BCB6A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CB6A6"/>
                      </a:solidFill>
                      <a:prstDash val="solid"/>
                      <a:round/>
                      <a:headEnd type="none" w="med" len="med"/>
                      <a:tailEnd type="none" w="med" len="med"/>
                    </a:lnB>
                    <a:solidFill>
                      <a:srgbClr val="EBE4CF"/>
                    </a:solidFill>
                  </a:tcPr>
                </a:tc>
              </a:tr>
            </a:tbl>
          </a:graphicData>
        </a:graphic>
      </p:graphicFrame>
      <p:sp>
        <p:nvSpPr>
          <p:cNvPr id="5" name="Shape 2"/>
          <p:cNvSpPr/>
          <p:nvPr/>
        </p:nvSpPr>
        <p:spPr>
          <a:xfrm>
            <a:off x="6849534" y="2499320"/>
            <a:ext cx="4529667" cy="2016720"/>
          </a:xfrm>
          <a:prstGeom prst="roundRect">
            <a:avLst>
              <a:gd name="adj" fmla="val 5038"/>
            </a:avLst>
          </a:prstGeom>
          <a:solidFill>
            <a:srgbClr val="1B2029"/>
          </a:solidFill>
          <a:ln/>
        </p:spPr>
      </p:sp>
      <p:sp>
        <p:nvSpPr>
          <p:cNvPr id="6" name="Text 3"/>
          <p:cNvSpPr/>
          <p:nvPr/>
        </p:nvSpPr>
        <p:spPr>
          <a:xfrm>
            <a:off x="7103534" y="2753320"/>
            <a:ext cx="4142317"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F2B701"/>
                </a:solidFill>
                <a:latin typeface="Arial" pitchFamily="34" charset="0"/>
                <a:ea typeface="Arial" pitchFamily="34" charset="-122"/>
                <a:cs typeface="Arial" pitchFamily="34" charset="-120"/>
              </a:rPr>
              <a:t>16 / 192</a:t>
            </a:r>
            <a:endParaRPr lang="en-US" sz="4800" dirty="0"/>
          </a:p>
        </p:txBody>
      </p:sp>
      <p:sp>
        <p:nvSpPr>
          <p:cNvPr id="7" name="Text 4"/>
          <p:cNvSpPr/>
          <p:nvPr/>
        </p:nvSpPr>
        <p:spPr>
          <a:xfrm>
            <a:off x="7103534" y="3515320"/>
            <a:ext cx="4142317"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DD3"/>
                </a:solidFill>
                <a:latin typeface="Arial" pitchFamily="34" charset="0"/>
                <a:ea typeface="Arial" pitchFamily="34" charset="-122"/>
                <a:cs typeface="Arial" pitchFamily="34" charset="-120"/>
              </a:rPr>
              <a:t>quality checks raised a warning, all for Yellow Taxi. Negative fares rose from 4 % in January to 9.5 % in November.</a:t>
            </a:r>
            <a:endParaRPr lang="en-US" sz="1400" dirty="0"/>
          </a:p>
        </p:txBody>
      </p:sp>
      <p:sp>
        <p:nvSpPr>
          <p:cNvPr id="8" name="Text 5"/>
          <p:cNvSpPr/>
          <p:nvPr/>
        </p:nvSpPr>
        <p:spPr>
          <a:xfrm>
            <a:off x="812800" y="4871641"/>
            <a:ext cx="10883392"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52"/>
                </a:solidFill>
                <a:latin typeface="Arial" pitchFamily="34" charset="0"/>
                <a:ea typeface="Arial" pitchFamily="34" charset="-122"/>
                <a:cs typeface="Arial" pitchFamily="34" charset="-120"/>
              </a:rPr>
              <a:t>Also structural, not errors: taxi cash tips are not recorded, and the meter has no request time or driver pay. These gaps are documented, not imputed.</a:t>
            </a:r>
            <a:endParaRPr lang="en-US" sz="14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292.3 M raw rows → 287.1 M clean trips · 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B701"/>
                </a:solidFill>
                <a:latin typeface="Arial" pitchFamily="34" charset="0"/>
                <a:ea typeface="Arial" pitchFamily="34" charset="-122"/>
                <a:cs typeface="Arial" pitchFamily="34" charset="-120"/>
              </a:rPr>
              <a:t>B · MARKET STRUCTURE 2025</a:t>
            </a:r>
            <a:endParaRPr lang="en-US" sz="1400" dirty="0"/>
          </a:p>
        </p:txBody>
      </p:sp>
      <p:sp>
        <p:nvSpPr>
          <p:cNvPr id="3" name="Text 1"/>
          <p:cNvSpPr/>
          <p:nvPr>
            <p:ph type="title"/>
          </p:nvPr>
        </p:nvSpPr>
        <p:spPr>
          <a:xfrm>
            <a:off x="812800" y="1137909"/>
            <a:ext cx="10883392" cy="1031214"/>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ECE9E1"/>
                </a:solidFill>
                <a:latin typeface="Arial" pitchFamily="34" charset="0"/>
                <a:ea typeface="Arial" pitchFamily="34" charset="-122"/>
                <a:cs typeface="Arial" pitchFamily="34" charset="-120"/>
              </a:rPr>
              <a:t>Taxis serve 15 % of all trips, but about 30 % in Manhattan</a:t>
            </a:r>
            <a:endParaRPr lang="en-US" sz="3600" dirty="0"/>
          </a:p>
        </p:txBody>
      </p:sp>
      <p:sp>
        <p:nvSpPr>
          <p:cNvPr id="4" name="Shape 2"/>
          <p:cNvSpPr/>
          <p:nvPr/>
        </p:nvSpPr>
        <p:spPr>
          <a:xfrm>
            <a:off x="838200" y="2397720"/>
            <a:ext cx="0" cy="815314"/>
          </a:xfrm>
          <a:prstGeom prst="line">
            <a:avLst/>
          </a:prstGeom>
          <a:noFill/>
          <a:ln w="50800">
            <a:solidFill>
              <a:srgbClr val="F2B701"/>
            </a:solidFill>
            <a:prstDash val="solid"/>
          </a:ln>
        </p:spPr>
      </p:sp>
      <p:sp>
        <p:nvSpPr>
          <p:cNvPr id="5" name="Text 3"/>
          <p:cNvSpPr/>
          <p:nvPr/>
        </p:nvSpPr>
        <p:spPr>
          <a:xfrm>
            <a:off x="1016000" y="2397720"/>
            <a:ext cx="3209205" cy="584200"/>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F2B701"/>
                </a:solidFill>
                <a:latin typeface="Arial" pitchFamily="34" charset="0"/>
                <a:ea typeface="Arial" pitchFamily="34" charset="-122"/>
                <a:cs typeface="Arial" pitchFamily="34" charset="-120"/>
              </a:rPr>
              <a:t>15.3 %</a:t>
            </a:r>
            <a:endParaRPr lang="en-US" sz="4400" dirty="0"/>
          </a:p>
        </p:txBody>
      </p:sp>
      <p:sp>
        <p:nvSpPr>
          <p:cNvPr id="6" name="Text 4"/>
          <p:cNvSpPr/>
          <p:nvPr/>
        </p:nvSpPr>
        <p:spPr>
          <a:xfrm>
            <a:off x="1016000" y="2981920"/>
            <a:ext cx="3209205"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EC6"/>
                </a:solidFill>
                <a:latin typeface="Arial" pitchFamily="34" charset="0"/>
                <a:ea typeface="Arial" pitchFamily="34" charset="-122"/>
                <a:cs typeface="Arial" pitchFamily="34" charset="-120"/>
              </a:rPr>
              <a:t>Yellow Taxi · 44.0 M trips</a:t>
            </a:r>
            <a:endParaRPr lang="en-US" sz="1300" dirty="0"/>
          </a:p>
        </p:txBody>
      </p:sp>
      <p:sp>
        <p:nvSpPr>
          <p:cNvPr id="7" name="Shape 5"/>
          <p:cNvSpPr/>
          <p:nvPr/>
        </p:nvSpPr>
        <p:spPr>
          <a:xfrm>
            <a:off x="4461933" y="2397720"/>
            <a:ext cx="0" cy="815314"/>
          </a:xfrm>
          <a:prstGeom prst="line">
            <a:avLst/>
          </a:prstGeom>
          <a:noFill/>
          <a:ln w="50800">
            <a:solidFill>
              <a:srgbClr val="8A919C"/>
            </a:solidFill>
            <a:prstDash val="solid"/>
          </a:ln>
        </p:spPr>
      </p:sp>
      <p:sp>
        <p:nvSpPr>
          <p:cNvPr id="8" name="Text 6"/>
          <p:cNvSpPr/>
          <p:nvPr/>
        </p:nvSpPr>
        <p:spPr>
          <a:xfrm>
            <a:off x="4639733" y="2397720"/>
            <a:ext cx="3209205" cy="584200"/>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ECE9E1"/>
                </a:solidFill>
                <a:latin typeface="Arial" pitchFamily="34" charset="0"/>
                <a:ea typeface="Arial" pitchFamily="34" charset="-122"/>
                <a:cs typeface="Arial" pitchFamily="34" charset="-120"/>
              </a:rPr>
              <a:t>61.3 %</a:t>
            </a:r>
            <a:endParaRPr lang="en-US" sz="4400" dirty="0"/>
          </a:p>
        </p:txBody>
      </p:sp>
      <p:sp>
        <p:nvSpPr>
          <p:cNvPr id="9" name="Text 7"/>
          <p:cNvSpPr/>
          <p:nvPr/>
        </p:nvSpPr>
        <p:spPr>
          <a:xfrm>
            <a:off x="4639733" y="2981920"/>
            <a:ext cx="3209205"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EC6"/>
                </a:solidFill>
                <a:latin typeface="Arial" pitchFamily="34" charset="0"/>
                <a:ea typeface="Arial" pitchFamily="34" charset="-122"/>
                <a:cs typeface="Arial" pitchFamily="34" charset="-120"/>
              </a:rPr>
              <a:t>Uber · 175.9 M trips</a:t>
            </a:r>
            <a:endParaRPr lang="en-US" sz="1300" dirty="0"/>
          </a:p>
        </p:txBody>
      </p:sp>
      <p:sp>
        <p:nvSpPr>
          <p:cNvPr id="10" name="Shape 8"/>
          <p:cNvSpPr/>
          <p:nvPr/>
        </p:nvSpPr>
        <p:spPr>
          <a:xfrm>
            <a:off x="8085667" y="2397720"/>
            <a:ext cx="0" cy="815314"/>
          </a:xfrm>
          <a:prstGeom prst="line">
            <a:avLst/>
          </a:prstGeom>
          <a:noFill/>
          <a:ln w="50800">
            <a:solidFill>
              <a:srgbClr val="E0459A"/>
            </a:solidFill>
            <a:prstDash val="solid"/>
          </a:ln>
        </p:spPr>
      </p:sp>
      <p:sp>
        <p:nvSpPr>
          <p:cNvPr id="11" name="Text 9"/>
          <p:cNvSpPr/>
          <p:nvPr/>
        </p:nvSpPr>
        <p:spPr>
          <a:xfrm>
            <a:off x="8263467" y="2397720"/>
            <a:ext cx="3209205" cy="584200"/>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F07AB8"/>
                </a:solidFill>
                <a:latin typeface="Arial" pitchFamily="34" charset="0"/>
                <a:ea typeface="Arial" pitchFamily="34" charset="-122"/>
                <a:cs typeface="Arial" pitchFamily="34" charset="-120"/>
              </a:rPr>
              <a:t>23.4 %</a:t>
            </a:r>
            <a:endParaRPr lang="en-US" sz="4400" dirty="0"/>
          </a:p>
        </p:txBody>
      </p:sp>
      <p:sp>
        <p:nvSpPr>
          <p:cNvPr id="12" name="Text 10"/>
          <p:cNvSpPr/>
          <p:nvPr/>
        </p:nvSpPr>
        <p:spPr>
          <a:xfrm>
            <a:off x="8263467" y="2981920"/>
            <a:ext cx="3209205"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EC6"/>
                </a:solidFill>
                <a:latin typeface="Arial" pitchFamily="34" charset="0"/>
                <a:ea typeface="Arial" pitchFamily="34" charset="-122"/>
                <a:cs typeface="Arial" pitchFamily="34" charset="-120"/>
              </a:rPr>
              <a:t>Lyft · 67.2 M trips</a:t>
            </a:r>
            <a:endParaRPr lang="en-US" sz="1300" dirty="0"/>
          </a:p>
        </p:txBody>
      </p:sp>
      <p:pic>
        <p:nvPicPr>
          <p:cNvPr id="13" name="Image 0" descr="Grafana panels: market share by pickup borough, and trips by pickup hour for Yellow Taxi, Uber and Lyft">    </p:cNvPr>
          <p:cNvPicPr>
            <a:picLocks noChangeAspect="1"/>
          </p:cNvPicPr>
          <p:nvPr/>
        </p:nvPicPr>
        <p:blipFill>
          <a:blip r:embed="rId1"/>
          <a:srcRect l="0" r="0" t="-60" b="-60"/>
          <a:stretch/>
        </p:blipFill>
        <p:spPr>
          <a:xfrm>
            <a:off x="812800" y="3467035"/>
            <a:ext cx="8509000" cy="2349500"/>
          </a:xfrm>
          <a:prstGeom prst="roundRect">
            <a:avLst>
              <a:gd name="adj" fmla="val 3243"/>
            </a:avLst>
          </a:prstGeom>
        </p:spPr>
      </p:pic>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C"/>
                </a:solidFill>
                <a:latin typeface="Arial" pitchFamily="34" charset="0"/>
                <a:ea typeface="Arial" pitchFamily="34" charset="-122"/>
                <a:cs typeface="Arial" pitchFamily="34" charset="-120"/>
              </a:rPr>
              <a:t>Share of 287.1 M clean trips · Grafana dashboard, data in AWS RDS · 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7A5A00"/>
                </a:solidFill>
                <a:latin typeface="Arial" pitchFamily="34" charset="0"/>
                <a:ea typeface="Arial" pitchFamily="34" charset="-122"/>
                <a:cs typeface="Arial" pitchFamily="34" charset="-120"/>
              </a:rPr>
              <a:t>B · PRICE AND TIPS</a:t>
            </a:r>
            <a:endParaRPr lang="en-US" sz="1400" dirty="0"/>
          </a:p>
        </p:txBody>
      </p:sp>
      <p:sp>
        <p:nvSpPr>
          <p:cNvPr id="3" name="Text 1"/>
          <p:cNvSpPr/>
          <p:nvPr>
            <p:ph type="title"/>
          </p:nvPr>
        </p:nvSpPr>
        <p:spPr>
          <a:xfrm>
            <a:off x="812800" y="1137909"/>
            <a:ext cx="10883392" cy="1031214"/>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029"/>
                </a:solidFill>
                <a:latin typeface="Arial" pitchFamily="34" charset="0"/>
                <a:ea typeface="Arial" pitchFamily="34" charset="-122"/>
                <a:cs typeface="Arial" pitchFamily="34" charset="-120"/>
              </a:rPr>
              <a:t>Taxis are cheaper on short trips and earn five times the tips</a:t>
            </a:r>
            <a:endParaRPr lang="en-US" sz="3600" dirty="0"/>
          </a:p>
        </p:txBody>
      </p:sp>
      <p:sp>
        <p:nvSpPr>
          <p:cNvPr id="4" name="Text 2"/>
          <p:cNvSpPr/>
          <p:nvPr/>
        </p:nvSpPr>
        <p:spPr>
          <a:xfrm>
            <a:off x="812800" y="2448520"/>
            <a:ext cx="5619175"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Arial" pitchFamily="34" charset="0"/>
                <a:ea typeface="Arial" pitchFamily="34" charset="-122"/>
                <a:cs typeface="Arial" pitchFamily="34" charset="-120"/>
              </a:rPr>
              <a:t>Average base fare (USD) by trip distance</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793935"/>
          <a:ext cx="5442810" cy="2701727"/>
        </p:xfrm>
        <a:graphic>
          <a:graphicData uri="http://schemas.openxmlformats.org/drawingml/2006/table">
            <a:tbl>
              <a:tblPr/>
              <a:tblGrid>
                <a:gridCol w="1687271"/>
                <a:gridCol w="1251846"/>
                <a:gridCol w="1251846"/>
                <a:gridCol w="1251846"/>
              </a:tblGrid>
              <a:tr h="385961">
                <a:tc>
                  <a:txBody>
                    <a:bodyPr/>
                    <a:lstStyle/>
                    <a:p>
                      <a:pPr indent="0" marL="0">
                        <a:lnSpc>
                          <a:spcPts val="1960"/>
                        </a:lnSpc>
                        <a:buNone/>
                      </a:pPr>
                      <a:r>
                        <a:rPr lang="en-US" sz="1400" b="1" dirty="0">
                          <a:solidFill>
                            <a:srgbClr val="1B2029"/>
                          </a:solidFill>
                          <a:latin typeface="Arial" pitchFamily="34" charset="0"/>
                          <a:ea typeface="Arial" pitchFamily="34" charset="-122"/>
                          <a:cs typeface="Arial" pitchFamily="34" charset="-120"/>
                        </a:rPr>
                        <a:t>Distance</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algn="r" indent="0" marL="0">
                        <a:lnSpc>
                          <a:spcPts val="1960"/>
                        </a:lnSpc>
                        <a:buNone/>
                      </a:pPr>
                      <a:r>
                        <a:rPr lang="en-US" sz="1400" b="1" dirty="0">
                          <a:solidFill>
                            <a:srgbClr val="1B2029"/>
                          </a:solidFill>
                          <a:latin typeface="Arial" pitchFamily="34" charset="0"/>
                          <a:ea typeface="Arial" pitchFamily="34" charset="-122"/>
                          <a:cs typeface="Arial" pitchFamily="34" charset="-120"/>
                        </a:rPr>
                        <a:t>Taxi</a:t>
                      </a:r>
                      <a:endParaRPr lang="en-US" sz="1400" dirty="0">
                        <a:latin typeface="Arial" charset="0"/>
                        <a:ea typeface="Arial" charset="0"/>
                        <a:cs typeface="Arial" charset="0"/>
                      </a:endParaRPr>
                    </a:p>
                  </a:txBody>
                  <a:tcPr marL="62230" marR="62230" marT="62230" marB="6223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algn="r" indent="0" marL="0">
                        <a:lnSpc>
                          <a:spcPts val="1960"/>
                        </a:lnSpc>
                        <a:buNone/>
                      </a:pPr>
                      <a:r>
                        <a:rPr lang="en-US" sz="1400" b="1" dirty="0">
                          <a:solidFill>
                            <a:srgbClr val="1B2029"/>
                          </a:solidFill>
                          <a:latin typeface="Arial" pitchFamily="34" charset="0"/>
                          <a:ea typeface="Arial" pitchFamily="34" charset="-122"/>
                          <a:cs typeface="Arial" pitchFamily="34" charset="-120"/>
                        </a:rPr>
                        <a:t>Uber</a:t>
                      </a:r>
                      <a:endParaRPr lang="en-US" sz="1400" dirty="0">
                        <a:latin typeface="Arial" charset="0"/>
                        <a:ea typeface="Arial" charset="0"/>
                        <a:cs typeface="Arial" charset="0"/>
                      </a:endParaRPr>
                    </a:p>
                  </a:txBody>
                  <a:tcPr marL="62230" marR="62230" marT="62230" marB="6223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algn="r" indent="0" marL="0">
                        <a:lnSpc>
                          <a:spcPts val="1960"/>
                        </a:lnSpc>
                        <a:buNone/>
                      </a:pPr>
                      <a:r>
                        <a:rPr lang="en-US" sz="1400" b="1" dirty="0">
                          <a:solidFill>
                            <a:srgbClr val="1B2029"/>
                          </a:solidFill>
                          <a:latin typeface="Arial" pitchFamily="34" charset="0"/>
                          <a:ea typeface="Arial" pitchFamily="34" charset="-122"/>
                          <a:cs typeface="Arial" pitchFamily="34" charset="-120"/>
                        </a:rPr>
                        <a:t>Lyft</a:t>
                      </a:r>
                      <a:endParaRPr lang="en-US" sz="1400" dirty="0">
                        <a:latin typeface="Arial" charset="0"/>
                        <a:ea typeface="Arial" charset="0"/>
                        <a:cs typeface="Arial" charset="0"/>
                      </a:endParaRPr>
                    </a:p>
                  </a:txBody>
                  <a:tcPr marL="62230" marR="62230" marT="62230" marB="6223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385961">
                <a:tc>
                  <a:txBody>
                    <a:bodyPr/>
                    <a:lstStyle/>
                    <a:p>
                      <a:pPr indent="0" marL="0">
                        <a:lnSpc>
                          <a:spcPts val="1960"/>
                        </a:lnSpc>
                        <a:buNone/>
                      </a:pPr>
                      <a:r>
                        <a:rPr lang="en-US" sz="1400" dirty="0">
                          <a:solidFill>
                            <a:srgbClr val="1B2029"/>
                          </a:solidFill>
                          <a:latin typeface="Arial" pitchFamily="34" charset="0"/>
                          <a:ea typeface="Arial" pitchFamily="34" charset="-122"/>
                          <a:cs typeface="Arial" pitchFamily="34" charset="-120"/>
                        </a:rPr>
                        <a:t>under 1 mi</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8.44</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10.63</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8.61</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029"/>
                          </a:solidFill>
                          <a:latin typeface="Arial" pitchFamily="34" charset="0"/>
                          <a:ea typeface="Arial" pitchFamily="34" charset="-122"/>
                          <a:cs typeface="Arial" pitchFamily="34" charset="-120"/>
                        </a:rPr>
                        <a:t>1 to 2 mi</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12.40</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14.19</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12.88</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029"/>
                          </a:solidFill>
                          <a:latin typeface="Arial" pitchFamily="34" charset="0"/>
                          <a:ea typeface="Arial" pitchFamily="34" charset="-122"/>
                          <a:cs typeface="Arial" pitchFamily="34" charset="-120"/>
                        </a:rPr>
                        <a:t>2 to 3 mi</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17.31</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19.24</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17.52</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029"/>
                          </a:solidFill>
                          <a:latin typeface="Arial" pitchFamily="34" charset="0"/>
                          <a:ea typeface="Arial" pitchFamily="34" charset="-122"/>
                          <a:cs typeface="Arial" pitchFamily="34" charset="-120"/>
                        </a:rPr>
                        <a:t>3 to 5 mi</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22.93</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24.42</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23.22</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029"/>
                          </a:solidFill>
                          <a:latin typeface="Arial" pitchFamily="34" charset="0"/>
                          <a:ea typeface="Arial" pitchFamily="34" charset="-122"/>
                          <a:cs typeface="Arial" pitchFamily="34" charset="-120"/>
                        </a:rPr>
                        <a:t>5 to 10 mi</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33.81</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34.57</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33.72</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029"/>
                          </a:solidFill>
                          <a:latin typeface="Arial" pitchFamily="34" charset="0"/>
                          <a:ea typeface="Arial" pitchFamily="34" charset="-122"/>
                          <a:cs typeface="Arial" pitchFamily="34" charset="-120"/>
                        </a:rPr>
                        <a:t>10 to 20 mi</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59.41</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58.54</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algn="r" indent="0" marL="0">
                        <a:lnSpc>
                          <a:spcPts val="1960"/>
                        </a:lnSpc>
                        <a:buNone/>
                      </a:pPr>
                      <a:r>
                        <a:rPr lang="en-US" sz="1400" dirty="0">
                          <a:solidFill>
                            <a:srgbClr val="1B2029"/>
                          </a:solidFill>
                          <a:latin typeface="Arial" pitchFamily="34" charset="0"/>
                          <a:ea typeface="Arial" pitchFamily="34" charset="-122"/>
                          <a:cs typeface="Arial" pitchFamily="34" charset="-120"/>
                        </a:rPr>
                        <a:t>57.43</a:t>
                      </a:r>
                      <a:endParaRPr lang="en-US" sz="1400" dirty="0">
                        <a:latin typeface="Arial" charset="0"/>
                        <a:ea typeface="Arial" charset="0"/>
                        <a:cs typeface="Arial"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
        <p:nvSpPr>
          <p:cNvPr id="6" name="Shape 3"/>
          <p:cNvSpPr/>
          <p:nvPr/>
        </p:nvSpPr>
        <p:spPr>
          <a:xfrm>
            <a:off x="6674710" y="2448520"/>
            <a:ext cx="4704490" cy="2633861"/>
          </a:xfrm>
          <a:prstGeom prst="roundRect">
            <a:avLst>
              <a:gd name="adj" fmla="val 3857"/>
            </a:avLst>
          </a:prstGeom>
          <a:solidFill>
            <a:srgbClr val="1B2029"/>
          </a:solidFill>
          <a:ln/>
        </p:spPr>
      </p:sp>
      <p:sp>
        <p:nvSpPr>
          <p:cNvPr id="7" name="Text 4"/>
          <p:cNvSpPr/>
          <p:nvPr/>
        </p:nvSpPr>
        <p:spPr>
          <a:xfrm>
            <a:off x="6928710" y="2702520"/>
            <a:ext cx="4322385"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DD3"/>
                </a:solidFill>
                <a:latin typeface="Arial" pitchFamily="34" charset="0"/>
                <a:ea typeface="Arial" pitchFamily="34" charset="-122"/>
                <a:cs typeface="Arial" pitchFamily="34" charset="-120"/>
              </a:rPr>
              <a:t>Tip rate on card payments</a:t>
            </a:r>
            <a:endParaRPr lang="en-US" sz="1300" dirty="0"/>
          </a:p>
        </p:txBody>
      </p:sp>
      <p:sp>
        <p:nvSpPr>
          <p:cNvPr id="8" name="Text 5"/>
          <p:cNvSpPr/>
          <p:nvPr/>
        </p:nvSpPr>
        <p:spPr>
          <a:xfrm>
            <a:off x="6928710" y="3086035"/>
            <a:ext cx="4322385" cy="787400"/>
          </a:xfrm>
          <a:prstGeom prst="rect">
            <a:avLst/>
          </a:prstGeom>
          <a:noFill/>
          <a:ln/>
        </p:spPr>
        <p:txBody>
          <a:bodyPr wrap="square" lIns="0" tIns="0" rIns="0" bIns="0" rtlCol="0" anchor="t">
            <a:normAutofit/>
          </a:bodyPr>
          <a:lstStyle/>
          <a:p>
            <a:pPr algn="l" indent="0" marL="0">
              <a:lnSpc>
                <a:spcPts val="6000"/>
              </a:lnSpc>
              <a:buNone/>
            </a:pPr>
            <a:r>
              <a:rPr lang="en-US" sz="6000" dirty="0">
                <a:solidFill>
                  <a:srgbClr val="F2B701"/>
                </a:solidFill>
                <a:latin typeface="Arial" pitchFamily="34" charset="0"/>
                <a:ea typeface="Arial" pitchFamily="34" charset="-122"/>
                <a:cs typeface="Arial" pitchFamily="34" charset="-120"/>
              </a:rPr>
              <a:t>22.0 %</a:t>
            </a:r>
            <a:endParaRPr lang="en-US" sz="6000" dirty="0"/>
          </a:p>
        </p:txBody>
      </p:sp>
      <p:sp>
        <p:nvSpPr>
          <p:cNvPr id="9" name="Text 6"/>
          <p:cNvSpPr/>
          <p:nvPr/>
        </p:nvSpPr>
        <p:spPr>
          <a:xfrm>
            <a:off x="6928710" y="4000435"/>
            <a:ext cx="4322385"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9E1"/>
                </a:solidFill>
                <a:latin typeface="Arial" pitchFamily="34" charset="0"/>
                <a:ea typeface="Arial" pitchFamily="34" charset="-122"/>
                <a:cs typeface="Arial" pitchFamily="34" charset="-120"/>
              </a:rPr>
              <a:t>Yellow Taxi, vs. </a:t>
            </a:r>
            <a:r>
              <a:rPr lang="en-US" sz="1400" b="1" dirty="0">
                <a:solidFill>
                  <a:srgbClr val="ECE9E1"/>
                </a:solidFill>
                <a:latin typeface="Arial" pitchFamily="34" charset="0"/>
                <a:ea typeface="Arial" pitchFamily="34" charset="-122"/>
                <a:cs typeface="Arial" pitchFamily="34" charset="-120"/>
              </a:rPr>
              <a:t>5.0 %</a:t>
            </a:r>
            <a:r>
              <a:rPr lang="en-US" sz="1400" dirty="0">
                <a:solidFill>
                  <a:srgbClr val="ECE9E1"/>
                </a:solidFill>
                <a:latin typeface="Arial" pitchFamily="34" charset="0"/>
                <a:ea typeface="Arial" pitchFamily="34" charset="-122"/>
                <a:cs typeface="Arial" pitchFamily="34" charset="-120"/>
              </a:rPr>
              <a:t> Lyft and </a:t>
            </a:r>
            <a:r>
              <a:rPr lang="en-US" sz="1400" b="1" dirty="0">
                <a:solidFill>
                  <a:srgbClr val="ECE9E1"/>
                </a:solidFill>
                <a:latin typeface="Arial" pitchFamily="34" charset="0"/>
                <a:ea typeface="Arial" pitchFamily="34" charset="-122"/>
                <a:cs typeface="Arial" pitchFamily="34" charset="-120"/>
              </a:rPr>
              <a:t>4.2 %</a:t>
            </a:r>
            <a:r>
              <a:rPr lang="en-US" sz="1400" dirty="0">
                <a:solidFill>
                  <a:srgbClr val="ECE9E1"/>
                </a:solidFill>
                <a:latin typeface="Arial" pitchFamily="34" charset="0"/>
                <a:ea typeface="Arial" pitchFamily="34" charset="-122"/>
                <a:cs typeface="Arial" pitchFamily="34" charset="-120"/>
              </a:rPr>
              <a:t> Uber</a:t>
            </a:r>
            <a:endParaRPr lang="en-US" sz="1400" dirty="0"/>
          </a:p>
        </p:txBody>
      </p:sp>
      <p:sp>
        <p:nvSpPr>
          <p:cNvPr id="10" name="Text 7"/>
          <p:cNvSpPr/>
          <p:nvPr/>
        </p:nvSpPr>
        <p:spPr>
          <a:xfrm>
            <a:off x="6928710" y="4401741"/>
            <a:ext cx="43223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FB8"/>
                </a:solidFill>
                <a:latin typeface="Arial" pitchFamily="34" charset="0"/>
                <a:ea typeface="Arial" pitchFamily="34" charset="-122"/>
                <a:cs typeface="Arial" pitchFamily="34" charset="-120"/>
              </a:rPr>
              <a:t>Taxi cash tips are not recorded, so only card payments are compared.</a:t>
            </a:r>
            <a:endParaRPr lang="en-US" sz="12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Base fare = before tips, taxes and surcharges · Taxi trips are shorter (3.5 vs. 5.1 mi) · 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7A5A00"/>
                </a:solidFill>
                <a:latin typeface="Arial" pitchFamily="34" charset="0"/>
                <a:ea typeface="Arial" pitchFamily="34" charset="-122"/>
                <a:cs typeface="Arial" pitchFamily="34" charset="-120"/>
              </a:rPr>
              <a:t>B · C · TARGET VARIABLE AND CONTEXT DATA</a:t>
            </a:r>
            <a:endParaRPr lang="en-US" sz="1400" dirty="0"/>
          </a:p>
        </p:txBody>
      </p:sp>
      <p:sp>
        <p:nvSpPr>
          <p:cNvPr id="3" name="Text 1"/>
          <p:cNvSpPr/>
          <p:nvPr>
            <p:ph type="title"/>
          </p:nvPr>
        </p:nvSpPr>
        <p:spPr>
          <a:xfrm>
            <a:off x="812800" y="1137909"/>
            <a:ext cx="10883392" cy="1031214"/>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029"/>
                </a:solidFill>
                <a:latin typeface="Arial" pitchFamily="34" charset="0"/>
                <a:ea typeface="Arial" pitchFamily="34" charset="-122"/>
                <a:cs typeface="Arial" pitchFamily="34" charset="-120"/>
              </a:rPr>
              <a:t>Place and time predict a taxi trip well, the weather does not</a:t>
            </a:r>
            <a:endParaRPr lang="en-US" sz="3600" dirty="0"/>
          </a:p>
        </p:txBody>
      </p:sp>
      <p:sp>
        <p:nvSpPr>
          <p:cNvPr id="4" name="Shape 2"/>
          <p:cNvSpPr/>
          <p:nvPr/>
        </p:nvSpPr>
        <p:spPr>
          <a:xfrm>
            <a:off x="812800" y="2448520"/>
            <a:ext cx="3386667" cy="1976041"/>
          </a:xfrm>
          <a:prstGeom prst="roundRect">
            <a:avLst>
              <a:gd name="adj" fmla="val 5142"/>
            </a:avLst>
          </a:prstGeom>
          <a:solidFill>
            <a:srgbClr val="FFFFFF"/>
          </a:solidFill>
          <a:ln/>
        </p:spPr>
      </p:sp>
      <p:sp>
        <p:nvSpPr>
          <p:cNvPr id="5" name="Text 3"/>
          <p:cNvSpPr/>
          <p:nvPr/>
        </p:nvSpPr>
        <p:spPr>
          <a:xfrm>
            <a:off x="1066800" y="2702520"/>
            <a:ext cx="296502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029"/>
                </a:solidFill>
                <a:latin typeface="Arial" pitchFamily="34" charset="0"/>
                <a:ea typeface="Arial" pitchFamily="34" charset="-122"/>
                <a:cs typeface="Arial" pitchFamily="34" charset="-120"/>
              </a:rPr>
              <a:t>Target is_taxi</a:t>
            </a:r>
            <a:endParaRPr lang="en-US" sz="1600" dirty="0"/>
          </a:p>
        </p:txBody>
      </p:sp>
      <p:sp>
        <p:nvSpPr>
          <p:cNvPr id="6" name="Text 4"/>
          <p:cNvSpPr/>
          <p:nvPr/>
        </p:nvSpPr>
        <p:spPr>
          <a:xfrm>
            <a:off x="1066800" y="3047935"/>
            <a:ext cx="2965027" cy="584200"/>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1B2029"/>
                </a:solidFill>
                <a:latin typeface="Arial" pitchFamily="34" charset="0"/>
                <a:ea typeface="Arial" pitchFamily="34" charset="-122"/>
                <a:cs typeface="Arial" pitchFamily="34" charset="-120"/>
              </a:rPr>
              <a:t>15.3 %</a:t>
            </a:r>
            <a:endParaRPr lang="en-US" sz="4400" dirty="0"/>
          </a:p>
        </p:txBody>
      </p:sp>
      <p:sp>
        <p:nvSpPr>
          <p:cNvPr id="7" name="Text 5"/>
          <p:cNvSpPr/>
          <p:nvPr/>
        </p:nvSpPr>
        <p:spPr>
          <a:xfrm>
            <a:off x="1066800" y="3708335"/>
            <a:ext cx="296502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Arial" pitchFamily="34" charset="0"/>
                <a:ea typeface="Arial" pitchFamily="34" charset="-122"/>
                <a:cs typeface="Arial" pitchFamily="34" charset="-120"/>
              </a:rPr>
              <a:t>positive class: imbalanced, so ROC-AUC and PR-AUC instead of accuracy</a:t>
            </a:r>
            <a:endParaRPr lang="en-US" sz="1300" dirty="0"/>
          </a:p>
        </p:txBody>
      </p:sp>
      <p:sp>
        <p:nvSpPr>
          <p:cNvPr id="8" name="Shape 6"/>
          <p:cNvSpPr/>
          <p:nvPr/>
        </p:nvSpPr>
        <p:spPr>
          <a:xfrm>
            <a:off x="4402667" y="2448520"/>
            <a:ext cx="3386667" cy="1976041"/>
          </a:xfrm>
          <a:prstGeom prst="roundRect">
            <a:avLst>
              <a:gd name="adj" fmla="val 5142"/>
            </a:avLst>
          </a:prstGeom>
          <a:solidFill>
            <a:srgbClr val="1B2029"/>
          </a:solidFill>
          <a:ln/>
        </p:spPr>
      </p:sp>
      <p:sp>
        <p:nvSpPr>
          <p:cNvPr id="9" name="Text 7"/>
          <p:cNvSpPr/>
          <p:nvPr/>
        </p:nvSpPr>
        <p:spPr>
          <a:xfrm>
            <a:off x="4656667" y="2702520"/>
            <a:ext cx="296502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B701"/>
                </a:solidFill>
                <a:latin typeface="Arial" pitchFamily="34" charset="0"/>
                <a:ea typeface="Arial" pitchFamily="34" charset="-122"/>
                <a:cs typeface="Arial" pitchFamily="34" charset="-120"/>
              </a:rPr>
              <a:t>Baseline model</a:t>
            </a:r>
            <a:endParaRPr lang="en-US" sz="1600" dirty="0"/>
          </a:p>
        </p:txBody>
      </p:sp>
      <p:sp>
        <p:nvSpPr>
          <p:cNvPr id="10" name="Text 8"/>
          <p:cNvSpPr/>
          <p:nvPr/>
        </p:nvSpPr>
        <p:spPr>
          <a:xfrm>
            <a:off x="4656667" y="3047935"/>
            <a:ext cx="2965027" cy="584200"/>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ECE9E1"/>
                </a:solidFill>
                <a:latin typeface="Arial" pitchFamily="34" charset="0"/>
                <a:ea typeface="Arial" pitchFamily="34" charset="-122"/>
                <a:cs typeface="Arial" pitchFamily="34" charset="-120"/>
              </a:rPr>
              <a:t>0.867</a:t>
            </a:r>
            <a:endParaRPr lang="en-US" sz="4400" dirty="0"/>
          </a:p>
        </p:txBody>
      </p:sp>
      <p:sp>
        <p:nvSpPr>
          <p:cNvPr id="11" name="Text 9"/>
          <p:cNvSpPr/>
          <p:nvPr/>
        </p:nvSpPr>
        <p:spPr>
          <a:xfrm>
            <a:off x="4656667" y="3708335"/>
            <a:ext cx="296502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DD3"/>
                </a:solidFill>
                <a:latin typeface="Arial" pitchFamily="34" charset="0"/>
                <a:ea typeface="Arial" pitchFamily="34" charset="-122"/>
                <a:cs typeface="Arial" pitchFamily="34" charset="-120"/>
              </a:rPr>
              <a:t>ROC-AUC, gradient boosting on 500 k trips. PR-AUC 0.51 vs. 0.15 at random.</a:t>
            </a:r>
            <a:endParaRPr lang="en-US" sz="1300" dirty="0"/>
          </a:p>
        </p:txBody>
      </p:sp>
      <p:sp>
        <p:nvSpPr>
          <p:cNvPr id="12" name="Shape 10"/>
          <p:cNvSpPr/>
          <p:nvPr/>
        </p:nvSpPr>
        <p:spPr>
          <a:xfrm>
            <a:off x="7992534" y="2448520"/>
            <a:ext cx="3386667" cy="1976041"/>
          </a:xfrm>
          <a:prstGeom prst="roundRect">
            <a:avLst>
              <a:gd name="adj" fmla="val 5142"/>
            </a:avLst>
          </a:prstGeom>
          <a:solidFill>
            <a:srgbClr val="FFFFFF"/>
          </a:solidFill>
          <a:ln/>
        </p:spPr>
      </p:sp>
      <p:sp>
        <p:nvSpPr>
          <p:cNvPr id="13" name="Text 11"/>
          <p:cNvSpPr/>
          <p:nvPr/>
        </p:nvSpPr>
        <p:spPr>
          <a:xfrm>
            <a:off x="8246534" y="2702520"/>
            <a:ext cx="296502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029"/>
                </a:solidFill>
                <a:latin typeface="Arial" pitchFamily="34" charset="0"/>
                <a:ea typeface="Arial" pitchFamily="34" charset="-122"/>
                <a:cs typeface="Arial" pitchFamily="34" charset="-120"/>
              </a:rPr>
              <a:t>Rainy days</a:t>
            </a:r>
            <a:endParaRPr lang="en-US" sz="1600" dirty="0"/>
          </a:p>
        </p:txBody>
      </p:sp>
      <p:sp>
        <p:nvSpPr>
          <p:cNvPr id="14" name="Text 12"/>
          <p:cNvSpPr/>
          <p:nvPr/>
        </p:nvSpPr>
        <p:spPr>
          <a:xfrm>
            <a:off x="8246534" y="3047935"/>
            <a:ext cx="2965027" cy="584200"/>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1B2029"/>
                </a:solidFill>
                <a:latin typeface="Arial" pitchFamily="34" charset="0"/>
                <a:ea typeface="Arial" pitchFamily="34" charset="-122"/>
                <a:cs typeface="Arial" pitchFamily="34" charset="-120"/>
              </a:rPr>
              <a:t>15.4 %</a:t>
            </a:r>
            <a:endParaRPr lang="en-US" sz="4400" dirty="0"/>
          </a:p>
        </p:txBody>
      </p:sp>
      <p:sp>
        <p:nvSpPr>
          <p:cNvPr id="15" name="Text 13"/>
          <p:cNvSpPr/>
          <p:nvPr/>
        </p:nvSpPr>
        <p:spPr>
          <a:xfrm>
            <a:off x="8246534" y="3708335"/>
            <a:ext cx="296502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Arial" pitchFamily="34" charset="0"/>
                <a:ea typeface="Arial" pitchFamily="34" charset="-122"/>
                <a:cs typeface="Arial" pitchFamily="34" charset="-120"/>
              </a:rPr>
              <a:t>taxi share on days with 5 mm+ rain, vs. 15.3 % on dry days: no shift</a:t>
            </a:r>
            <a:endParaRPr lang="en-US" sz="1300" dirty="0"/>
          </a:p>
        </p:txBody>
      </p:sp>
      <p:sp>
        <p:nvSpPr>
          <p:cNvPr id="16" name="Text 14"/>
          <p:cNvSpPr/>
          <p:nvPr/>
        </p:nvSpPr>
        <p:spPr>
          <a:xfrm>
            <a:off x="812800" y="4729361"/>
            <a:ext cx="10883392" cy="52321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E4652"/>
                </a:solidFill>
                <a:latin typeface="Arial" pitchFamily="34" charset="0"/>
                <a:ea typeface="Arial" pitchFamily="34" charset="-122"/>
                <a:cs typeface="Arial" pitchFamily="34" charset="-120"/>
              </a:rPr>
              <a:t>Features known at pickup:</a:t>
            </a:r>
            <a:r>
              <a:rPr lang="en-US" sz="1400" dirty="0">
                <a:solidFill>
                  <a:srgbClr val="3E4652"/>
                </a:solidFill>
                <a:latin typeface="Arial" pitchFamily="34" charset="0"/>
                <a:ea typeface="Arial" pitchFamily="34" charset="-122"/>
                <a:cs typeface="Arial" pitchFamily="34" charset="-120"/>
              </a:rPr>
              <a:t> hour, weekday, month, pickup and drop-off borough, service zone, distance, airport, rain, temperature. Fare, tip and duration are excluded to avoid leakage.</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Context data: TLC taxi zone lookup, Open-Meteo daily weather for Central Park · 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7A5A00"/>
                </a:solidFill>
                <a:latin typeface="Arial" pitchFamily="34" charset="0"/>
                <a:ea typeface="Arial" pitchFamily="34" charset="-122"/>
                <a:cs typeface="Arial" pitchFamily="34" charset="-120"/>
              </a:rPr>
              <a:t>E · DASK CONFIGURATIONS</a:t>
            </a:r>
            <a:endParaRPr lang="en-US" sz="1400" dirty="0"/>
          </a:p>
        </p:txBody>
      </p:sp>
      <p:sp>
        <p:nvSpPr>
          <p:cNvPr id="3" name="Text 1"/>
          <p:cNvSpPr/>
          <p:nvPr>
            <p:ph type="title"/>
          </p:nvPr>
        </p:nvSpPr>
        <p:spPr>
          <a:xfrm>
            <a:off x="812800" y="1137909"/>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B2029"/>
                </a:solidFill>
                <a:latin typeface="Arial" pitchFamily="34" charset="0"/>
                <a:ea typeface="Arial" pitchFamily="34" charset="-122"/>
                <a:cs typeface="Arial" pitchFamily="34" charset="-120"/>
              </a:rPr>
              <a:t>Fewer, larger workers were 35 % faster</a:t>
            </a:r>
            <a:endParaRPr lang="en-US" sz="3600" dirty="0"/>
          </a:p>
        </p:txBody>
      </p:sp>
      <p:sp>
        <p:nvSpPr>
          <p:cNvPr id="4" name="Text 2"/>
          <p:cNvSpPr/>
          <p:nvPr/>
        </p:nvSpPr>
        <p:spPr>
          <a:xfrm>
            <a:off x="812800" y="1996415"/>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029"/>
                </a:solidFill>
                <a:latin typeface="Arial" pitchFamily="34" charset="0"/>
                <a:ea typeface="Arial" pitchFamily="34" charset="-122"/>
                <a:cs typeface="Arial" pitchFamily="34" charset="-120"/>
              </a:rPr>
              <a:t>A</a:t>
            </a:r>
            <a:r>
              <a:rPr lang="en-US" sz="1400" dirty="0">
                <a:solidFill>
                  <a:srgbClr val="1B2029"/>
                </a:solidFill>
                <a:latin typeface="Arial" pitchFamily="34" charset="0"/>
                <a:ea typeface="Arial" pitchFamily="34" charset="-122"/>
                <a:cs typeface="Arial" pitchFamily="34" charset="-120"/>
              </a:rPr>
              <a:t> · 2 workers × 4 threads × 6 GB</a:t>
            </a:r>
            <a:endParaRPr lang="en-US" sz="1400" dirty="0"/>
          </a:p>
        </p:txBody>
      </p:sp>
      <p:sp>
        <p:nvSpPr>
          <p:cNvPr id="5" name="Shape 3"/>
          <p:cNvSpPr/>
          <p:nvPr/>
        </p:nvSpPr>
        <p:spPr>
          <a:xfrm>
            <a:off x="812800" y="2341829"/>
            <a:ext cx="3270250" cy="457200"/>
          </a:xfrm>
          <a:prstGeom prst="rect">
            <a:avLst/>
          </a:prstGeom>
          <a:solidFill>
            <a:srgbClr val="1B2029"/>
          </a:solidFill>
          <a:ln/>
        </p:spPr>
      </p:sp>
      <p:sp>
        <p:nvSpPr>
          <p:cNvPr id="6" name="Shape 4"/>
          <p:cNvSpPr/>
          <p:nvPr/>
        </p:nvSpPr>
        <p:spPr>
          <a:xfrm>
            <a:off x="4083050" y="2341829"/>
            <a:ext cx="850900" cy="457200"/>
          </a:xfrm>
          <a:prstGeom prst="rect">
            <a:avLst/>
          </a:prstGeom>
          <a:solidFill>
            <a:srgbClr val="F2B701"/>
          </a:solidFill>
          <a:ln/>
        </p:spPr>
      </p:sp>
      <p:sp>
        <p:nvSpPr>
          <p:cNvPr id="7" name="Text 5"/>
          <p:cNvSpPr/>
          <p:nvPr/>
        </p:nvSpPr>
        <p:spPr>
          <a:xfrm>
            <a:off x="5086350" y="2321520"/>
            <a:ext cx="1043940" cy="523214"/>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1B2029"/>
                </a:solidFill>
                <a:latin typeface="Arial" pitchFamily="34" charset="0"/>
                <a:ea typeface="Arial" pitchFamily="34" charset="-122"/>
                <a:cs typeface="Arial" pitchFamily="34" charset="-120"/>
              </a:rPr>
              <a:t>286 s</a:t>
            </a:r>
            <a:endParaRPr lang="en-US" sz="2800" dirty="0"/>
          </a:p>
        </p:txBody>
      </p:sp>
      <p:sp>
        <p:nvSpPr>
          <p:cNvPr id="8" name="Text 6"/>
          <p:cNvSpPr/>
          <p:nvPr/>
        </p:nvSpPr>
        <p:spPr>
          <a:xfrm>
            <a:off x="812800" y="3073335"/>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029"/>
                </a:solidFill>
                <a:latin typeface="Arial" pitchFamily="34" charset="0"/>
                <a:ea typeface="Arial" pitchFamily="34" charset="-122"/>
                <a:cs typeface="Arial" pitchFamily="34" charset="-120"/>
              </a:rPr>
              <a:t>B</a:t>
            </a:r>
            <a:r>
              <a:rPr lang="en-US" sz="1400" dirty="0">
                <a:solidFill>
                  <a:srgbClr val="1B2029"/>
                </a:solidFill>
                <a:latin typeface="Arial" pitchFamily="34" charset="0"/>
                <a:ea typeface="Arial" pitchFamily="34" charset="-122"/>
                <a:cs typeface="Arial" pitchFamily="34" charset="-120"/>
              </a:rPr>
              <a:t> · 4 workers × 2 threads × 3 GB</a:t>
            </a:r>
            <a:endParaRPr lang="en-US" sz="1400" dirty="0"/>
          </a:p>
        </p:txBody>
      </p:sp>
      <p:sp>
        <p:nvSpPr>
          <p:cNvPr id="9" name="Shape 7"/>
          <p:cNvSpPr/>
          <p:nvPr/>
        </p:nvSpPr>
        <p:spPr>
          <a:xfrm>
            <a:off x="812800" y="3418749"/>
            <a:ext cx="4826000" cy="457200"/>
          </a:xfrm>
          <a:prstGeom prst="rect">
            <a:avLst/>
          </a:prstGeom>
          <a:solidFill>
            <a:srgbClr val="1B2029"/>
          </a:solidFill>
          <a:ln/>
        </p:spPr>
      </p:sp>
      <p:sp>
        <p:nvSpPr>
          <p:cNvPr id="10" name="Shape 8"/>
          <p:cNvSpPr/>
          <p:nvPr/>
        </p:nvSpPr>
        <p:spPr>
          <a:xfrm>
            <a:off x="5638800" y="3418749"/>
            <a:ext cx="1524000" cy="457200"/>
          </a:xfrm>
          <a:prstGeom prst="rect">
            <a:avLst/>
          </a:prstGeom>
          <a:solidFill>
            <a:srgbClr val="F2B701"/>
          </a:solidFill>
          <a:ln/>
        </p:spPr>
      </p:sp>
      <p:sp>
        <p:nvSpPr>
          <p:cNvPr id="11" name="Text 9"/>
          <p:cNvSpPr/>
          <p:nvPr/>
        </p:nvSpPr>
        <p:spPr>
          <a:xfrm>
            <a:off x="7315200" y="3398441"/>
            <a:ext cx="1043940" cy="523214"/>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1B2029"/>
                </a:solidFill>
                <a:latin typeface="Arial" pitchFamily="34" charset="0"/>
                <a:ea typeface="Arial" pitchFamily="34" charset="-122"/>
                <a:cs typeface="Arial" pitchFamily="34" charset="-120"/>
              </a:rPr>
              <a:t>441 s</a:t>
            </a:r>
            <a:endParaRPr lang="en-US" sz="2800" dirty="0"/>
          </a:p>
        </p:txBody>
      </p:sp>
      <p:sp>
        <p:nvSpPr>
          <p:cNvPr id="12" name="Shape 10"/>
          <p:cNvSpPr/>
          <p:nvPr/>
        </p:nvSpPr>
        <p:spPr>
          <a:xfrm>
            <a:off x="812800" y="4164211"/>
            <a:ext cx="203200" cy="203200"/>
          </a:xfrm>
          <a:prstGeom prst="rect">
            <a:avLst/>
          </a:prstGeom>
          <a:solidFill>
            <a:srgbClr val="1B2029"/>
          </a:solidFill>
          <a:ln/>
        </p:spPr>
      </p:sp>
      <p:sp>
        <p:nvSpPr>
          <p:cNvPr id="13" name="Text 11"/>
          <p:cNvSpPr/>
          <p:nvPr/>
        </p:nvSpPr>
        <p:spPr>
          <a:xfrm>
            <a:off x="1092200" y="4150258"/>
            <a:ext cx="2755239"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029"/>
                </a:solidFill>
                <a:latin typeface="Arial" pitchFamily="34" charset="0"/>
                <a:ea typeface="Arial" pitchFamily="34" charset="-122"/>
                <a:cs typeface="Arial" pitchFamily="34" charset="-120"/>
              </a:rPr>
              <a:t>KPI aggregation (227 s vs. 335 s)</a:t>
            </a:r>
            <a:endParaRPr lang="en-US" sz="1300" dirty="0"/>
          </a:p>
        </p:txBody>
      </p:sp>
      <p:sp>
        <p:nvSpPr>
          <p:cNvPr id="14" name="Shape 12"/>
          <p:cNvSpPr/>
          <p:nvPr/>
        </p:nvSpPr>
        <p:spPr>
          <a:xfrm>
            <a:off x="3847439" y="4164211"/>
            <a:ext cx="203200" cy="203200"/>
          </a:xfrm>
          <a:prstGeom prst="rect">
            <a:avLst/>
          </a:prstGeom>
          <a:solidFill>
            <a:srgbClr val="F2B701"/>
          </a:solidFill>
          <a:ln/>
        </p:spPr>
      </p:sp>
      <p:sp>
        <p:nvSpPr>
          <p:cNvPr id="15" name="Text 13"/>
          <p:cNvSpPr/>
          <p:nvPr/>
        </p:nvSpPr>
        <p:spPr>
          <a:xfrm>
            <a:off x="4126839" y="4150258"/>
            <a:ext cx="320389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029"/>
                </a:solidFill>
                <a:latin typeface="Arial" pitchFamily="34" charset="0"/>
                <a:ea typeface="Arial" pitchFamily="34" charset="-122"/>
                <a:cs typeface="Arial" pitchFamily="34" charset="-120"/>
              </a:rPr>
              <a:t>Descriptive statistics (59 s vs. 106 s)</a:t>
            </a:r>
            <a:endParaRPr lang="en-US" sz="1300" dirty="0"/>
          </a:p>
        </p:txBody>
      </p:sp>
      <p:sp>
        <p:nvSpPr>
          <p:cNvPr id="16" name="Text 14"/>
          <p:cNvSpPr/>
          <p:nvPr/>
        </p:nvSpPr>
        <p:spPr>
          <a:xfrm>
            <a:off x="812800" y="4736970"/>
            <a:ext cx="10883392"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652"/>
                </a:solidFill>
                <a:latin typeface="Arial" pitchFamily="34" charset="0"/>
                <a:ea typeface="Arial" pitchFamily="34" charset="-122"/>
                <a:cs typeface="Arial" pitchFamily="34" charset="-120"/>
              </a:rPr>
              <a:t>Same 8 threads and 12 GB in both. Fewer processes exchange less data during group-bys. We made A the default. Lesson learned: partitions must fit the memory per worker, a whole month in one partition killed the workers.</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Median of 2 runs over 287.1 M trips, 305 partitions · Intel i7, 32 GB RAM · 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8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181439" cy="528307"/>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ECE9E1"/>
                </a:solidFill>
                <a:latin typeface="Arial" pitchFamily="34" charset="0"/>
                <a:ea typeface="Arial" pitchFamily="34" charset="-122"/>
                <a:cs typeface="Arial" pitchFamily="34" charset="-120"/>
              </a:rPr>
              <a:t>A management view on the AWS results</a:t>
            </a:r>
            <a:endParaRPr lang="en-US" sz="3600" dirty="0"/>
          </a:p>
        </p:txBody>
      </p:sp>
      <p:sp>
        <p:nvSpPr>
          <p:cNvPr id="3" name="Text 1"/>
          <p:cNvSpPr/>
          <p:nvPr/>
        </p:nvSpPr>
        <p:spPr>
          <a:xfrm>
            <a:off x="9994239" y="1066800"/>
            <a:ext cx="1435761" cy="274307"/>
          </a:xfrm>
          <a:prstGeom prst="rect">
            <a:avLst/>
          </a:prstGeom>
          <a:noFill/>
          <a:ln/>
        </p:spPr>
        <p:txBody>
          <a:bodyPr wrap="none" lIns="0" tIns="0" rIns="0" bIns="0" rtlCol="0" anchor="t">
            <a:normAutofit/>
          </a:bodyPr>
          <a:lstStyle/>
          <a:p>
            <a:pPr algn="l" indent="0" marL="0">
              <a:lnSpc>
                <a:spcPts val="1960"/>
              </a:lnSpc>
              <a:buNone/>
            </a:pPr>
            <a:r>
              <a:rPr lang="en-US" sz="1400" b="1" spc="150" kern="0" dirty="0">
                <a:solidFill>
                  <a:srgbClr val="F2B701"/>
                </a:solidFill>
                <a:latin typeface="Arial" pitchFamily="34" charset="0"/>
                <a:ea typeface="Arial" pitchFamily="34" charset="-122"/>
                <a:cs typeface="Arial" pitchFamily="34" charset="-120"/>
              </a:rPr>
              <a:t>G · GRAFANA</a:t>
            </a:r>
            <a:endParaRPr lang="en-US" sz="1400" dirty="0"/>
          </a:p>
        </p:txBody>
      </p:sp>
      <p:pic>
        <p:nvPicPr>
          <p:cNvPr id="4" name="Image 0" descr="Grafana dashboard: 287.1 million trips, Yellow Taxi market share 15.3 percent, passenger spending 9.5 billion dollars, taxi share of spending 13.3 percent, trips and market share per month">    </p:cNvPr>
          <p:cNvPicPr>
            <a:picLocks noChangeAspect="1"/>
          </p:cNvPicPr>
          <p:nvPr/>
        </p:nvPicPr>
        <p:blipFill>
          <a:blip r:embed="rId1"/>
          <a:srcRect l="0" r="0" t="-43" b="-43"/>
          <a:stretch/>
        </p:blipFill>
        <p:spPr>
          <a:xfrm>
            <a:off x="812800" y="1569709"/>
            <a:ext cx="8763000" cy="3822700"/>
          </a:xfrm>
          <a:prstGeom prst="roundRect">
            <a:avLst>
              <a:gd name="adj" fmla="val 1993"/>
            </a:avLst>
          </a:prstGeom>
        </p:spPr>
      </p:pic>
      <p:sp>
        <p:nvSpPr>
          <p:cNvPr id="5" name="Text 2"/>
          <p:cNvSpPr/>
          <p:nvPr/>
        </p:nvSpPr>
        <p:spPr>
          <a:xfrm>
            <a:off x="9829800" y="1569709"/>
            <a:ext cx="1600200"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ECE9E1"/>
                </a:solidFill>
                <a:latin typeface="Arial" pitchFamily="34" charset="0"/>
                <a:ea typeface="Arial" pitchFamily="34" charset="-122"/>
                <a:cs typeface="Arial" pitchFamily="34" charset="-120"/>
              </a:rPr>
              <a:t>15 panels</a:t>
            </a:r>
            <a:r>
              <a:rPr lang="en-US" sz="1300" dirty="0">
                <a:solidFill>
                  <a:srgbClr val="C9CDD3"/>
                </a:solidFill>
                <a:latin typeface="Arial" pitchFamily="34" charset="0"/>
                <a:ea typeface="Arial" pitchFamily="34" charset="-122"/>
                <a:cs typeface="Arial" pitchFamily="34" charset="-120"/>
              </a:rPr>
              <a:t> on 4 AWS tables</a:t>
            </a:r>
            <a:endParaRPr lang="en-US" sz="1300" dirty="0"/>
          </a:p>
        </p:txBody>
      </p:sp>
      <p:sp>
        <p:nvSpPr>
          <p:cNvPr id="6" name="Text 3"/>
          <p:cNvSpPr/>
          <p:nvPr/>
        </p:nvSpPr>
        <p:spPr>
          <a:xfrm>
            <a:off x="9829800" y="2193199"/>
            <a:ext cx="1600200"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ECE9E1"/>
                </a:solidFill>
                <a:latin typeface="Arial" pitchFamily="34" charset="0"/>
                <a:ea typeface="Arial" pitchFamily="34" charset="-122"/>
                <a:cs typeface="Arial" pitchFamily="34" charset="-120"/>
              </a:rPr>
              <a:t>Filter</a:t>
            </a:r>
            <a:r>
              <a:rPr lang="en-US" sz="1300" dirty="0">
                <a:solidFill>
                  <a:srgbClr val="C9CDD3"/>
                </a:solidFill>
                <a:latin typeface="Arial" pitchFamily="34" charset="0"/>
                <a:ea typeface="Arial" pitchFamily="34" charset="-122"/>
                <a:cs typeface="Arial" pitchFamily="34" charset="-120"/>
              </a:rPr>
              <a:t> by service and time range</a:t>
            </a:r>
            <a:endParaRPr lang="en-US" sz="1300" dirty="0"/>
          </a:p>
        </p:txBody>
      </p:sp>
      <p:sp>
        <p:nvSpPr>
          <p:cNvPr id="7" name="Text 4"/>
          <p:cNvSpPr/>
          <p:nvPr/>
        </p:nvSpPr>
        <p:spPr>
          <a:xfrm>
            <a:off x="9829800" y="2816690"/>
            <a:ext cx="1600200"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ECE9E1"/>
                </a:solidFill>
                <a:latin typeface="Arial" pitchFamily="34" charset="0"/>
                <a:ea typeface="Arial" pitchFamily="34" charset="-122"/>
                <a:cs typeface="Arial" pitchFamily="34" charset="-120"/>
              </a:rPr>
              <a:t>$9.5 B</a:t>
            </a:r>
            <a:r>
              <a:rPr lang="en-US" sz="1300" dirty="0">
                <a:solidFill>
                  <a:srgbClr val="C9CDD3"/>
                </a:solidFill>
                <a:latin typeface="Arial" pitchFamily="34" charset="0"/>
                <a:ea typeface="Arial" pitchFamily="34" charset="-122"/>
                <a:cs typeface="Arial" pitchFamily="34" charset="-120"/>
              </a:rPr>
              <a:t> spent, taxis 13.3 %</a:t>
            </a:r>
            <a:endParaRPr lang="en-US" sz="1300" dirty="0"/>
          </a:p>
        </p:txBody>
      </p:sp>
      <p:sp>
        <p:nvSpPr>
          <p:cNvPr id="8" name="Text 5"/>
          <p:cNvSpPr/>
          <p:nvPr/>
        </p:nvSpPr>
        <p:spPr>
          <a:xfrm>
            <a:off x="9829800" y="3440181"/>
            <a:ext cx="1600200" cy="69393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ECE9E1"/>
                </a:solidFill>
                <a:latin typeface="Arial" pitchFamily="34" charset="0"/>
                <a:ea typeface="Arial" pitchFamily="34" charset="-122"/>
                <a:cs typeface="Arial" pitchFamily="34" charset="-120"/>
              </a:rPr>
              <a:t>ETL runs</a:t>
            </a:r>
            <a:r>
              <a:rPr lang="en-US" sz="1300" dirty="0">
                <a:solidFill>
                  <a:srgbClr val="C9CDD3"/>
                </a:solidFill>
                <a:latin typeface="Arial" pitchFamily="34" charset="0"/>
                <a:ea typeface="Arial" pitchFamily="34" charset="-122"/>
                <a:cs typeface="Arial" pitchFamily="34" charset="-120"/>
              </a:rPr>
              <a:t> and quality checks shown live</a:t>
            </a:r>
            <a:endParaRPr lang="en-US" sz="13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C"/>
                </a:solidFill>
                <a:latin typeface="Arial" pitchFamily="34" charset="0"/>
                <a:ea typeface="Arial" pitchFamily="34" charset="-122"/>
                <a:cs typeface="Arial" pitchFamily="34" charset="-120"/>
              </a:rPr>
              <a:t>Grafana 11 in Docker, PostgreSQL data source on AWS RDS · 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1F"/>
        </a:solidFill>
      </p:bgPr>
    </p:bg>
    <p:spTree>
      <p:nvGrpSpPr>
        <p:cNvPr id="1" name=""/>
        <p:cNvGrpSpPr/>
        <p:nvPr/>
      </p:nvGrpSpPr>
      <p:grpSpPr>
        <a:xfrm>
          <a:off x="0" y="0"/>
          <a:ext cx="0" cy="0"/>
          <a:chOff x="0" y="0"/>
          <a:chExt cx="0" cy="0"/>
        </a:xfrm>
      </p:grpSpPr>
      <p:sp>
        <p:nvSpPr>
          <p:cNvPr id="2" name="Shape 0"/>
          <p:cNvSpPr/>
          <p:nvPr/>
        </p:nvSpPr>
        <p:spPr>
          <a:xfrm>
            <a:off x="0" y="0"/>
            <a:ext cx="304800" cy="6858000"/>
          </a:xfrm>
          <a:prstGeom prst="rect">
            <a:avLst/>
          </a:prstGeom>
          <a:solidFill>
            <a:srgbClr val="F2B701"/>
          </a:solidFill>
          <a:ln/>
        </p:spPr>
      </p:sp>
      <p:sp>
        <p:nvSpPr>
          <p:cNvPr id="3" name="Text 1"/>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B701"/>
                </a:solidFill>
                <a:latin typeface="Arial" pitchFamily="34" charset="0"/>
                <a:ea typeface="Arial" pitchFamily="34" charset="-122"/>
                <a:cs typeface="Arial" pitchFamily="34" charset="-120"/>
              </a:rPr>
              <a:t>H · CONCLUSIONS</a:t>
            </a:r>
            <a:endParaRPr lang="en-US" sz="1400" dirty="0"/>
          </a:p>
        </p:txBody>
      </p:sp>
      <p:sp>
        <p:nvSpPr>
          <p:cNvPr id="4" name="Text 2"/>
          <p:cNvSpPr/>
          <p:nvPr>
            <p:ph type="title"/>
          </p:nvPr>
        </p:nvSpPr>
        <p:spPr>
          <a:xfrm>
            <a:off x="812800" y="1137909"/>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ECE9E1"/>
                </a:solidFill>
                <a:latin typeface="Arial" pitchFamily="34" charset="0"/>
                <a:ea typeface="Arial" pitchFamily="34" charset="-122"/>
                <a:cs typeface="Arial" pitchFamily="34" charset="-120"/>
              </a:rPr>
              <a:t>The taxi is a Manhattan and airport product</a:t>
            </a:r>
            <a:endParaRPr lang="en-US" sz="3600" dirty="0"/>
          </a:p>
        </p:txBody>
      </p:sp>
      <p:sp>
        <p:nvSpPr>
          <p:cNvPr id="5" name="Text 3"/>
          <p:cNvSpPr/>
          <p:nvPr/>
        </p:nvSpPr>
        <p:spPr>
          <a:xfrm>
            <a:off x="812800" y="1945618"/>
            <a:ext cx="5441696"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B701"/>
                </a:solidFill>
                <a:latin typeface="Arial" pitchFamily="34" charset="0"/>
                <a:ea typeface="Arial" pitchFamily="34" charset="-122"/>
                <a:cs typeface="Arial" pitchFamily="34" charset="-120"/>
              </a:rPr>
              <a:t>Niche, not gone</a:t>
            </a:r>
            <a:endParaRPr lang="en-US" sz="1700" dirty="0"/>
          </a:p>
        </p:txBody>
      </p:sp>
      <p:sp>
        <p:nvSpPr>
          <p:cNvPr id="6" name="Text 4"/>
          <p:cNvSpPr/>
          <p:nvPr/>
        </p:nvSpPr>
        <p:spPr>
          <a:xfrm>
            <a:off x="812800" y="2255441"/>
            <a:ext cx="544169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DD3"/>
                </a:solidFill>
                <a:latin typeface="Arial" pitchFamily="34" charset="0"/>
                <a:ea typeface="Arial" pitchFamily="34" charset="-122"/>
                <a:cs typeface="Arial" pitchFamily="34" charset="-120"/>
              </a:rPr>
              <a:t>15 % of trips city-wide, about 30 % in Manhattan, more than half in some zones.</a:t>
            </a:r>
            <a:endParaRPr lang="en-US" sz="1400" dirty="0"/>
          </a:p>
        </p:txBody>
      </p:sp>
      <p:sp>
        <p:nvSpPr>
          <p:cNvPr id="7" name="Text 5"/>
          <p:cNvSpPr/>
          <p:nvPr/>
        </p:nvSpPr>
        <p:spPr>
          <a:xfrm>
            <a:off x="6096000" y="1945618"/>
            <a:ext cx="5441696"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B701"/>
                </a:solidFill>
                <a:latin typeface="Arial" pitchFamily="34" charset="0"/>
                <a:ea typeface="Arial" pitchFamily="34" charset="-122"/>
                <a:cs typeface="Arial" pitchFamily="34" charset="-120"/>
              </a:rPr>
              <a:t>Competitive on short trips</a:t>
            </a:r>
            <a:endParaRPr lang="en-US" sz="1700" dirty="0"/>
          </a:p>
        </p:txBody>
      </p:sp>
      <p:sp>
        <p:nvSpPr>
          <p:cNvPr id="8" name="Text 6"/>
          <p:cNvSpPr/>
          <p:nvPr/>
        </p:nvSpPr>
        <p:spPr>
          <a:xfrm>
            <a:off x="6096000" y="2255441"/>
            <a:ext cx="544169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DD3"/>
                </a:solidFill>
                <a:latin typeface="Arial" pitchFamily="34" charset="0"/>
                <a:ea typeface="Arial" pitchFamily="34" charset="-122"/>
                <a:cs typeface="Arial" pitchFamily="34" charset="-120"/>
              </a:rPr>
              <a:t>Up to 20 % cheaper than Uber under 1 mile, and 22 % card tips for drivers.</a:t>
            </a:r>
            <a:endParaRPr lang="en-US" sz="1400" dirty="0"/>
          </a:p>
        </p:txBody>
      </p:sp>
      <p:sp>
        <p:nvSpPr>
          <p:cNvPr id="9" name="Text 7"/>
          <p:cNvSpPr/>
          <p:nvPr/>
        </p:nvSpPr>
        <p:spPr>
          <a:xfrm>
            <a:off x="812800" y="2753258"/>
            <a:ext cx="5441696"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B701"/>
                </a:solidFill>
                <a:latin typeface="Arial" pitchFamily="34" charset="0"/>
                <a:ea typeface="Arial" pitchFamily="34" charset="-122"/>
                <a:cs typeface="Arial" pitchFamily="34" charset="-120"/>
              </a:rPr>
              <a:t>Predictable</a:t>
            </a:r>
            <a:endParaRPr lang="en-US" sz="1700" dirty="0"/>
          </a:p>
        </p:txBody>
      </p:sp>
      <p:sp>
        <p:nvSpPr>
          <p:cNvPr id="10" name="Text 8"/>
          <p:cNvSpPr/>
          <p:nvPr/>
        </p:nvSpPr>
        <p:spPr>
          <a:xfrm>
            <a:off x="812800" y="3063081"/>
            <a:ext cx="544169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DD3"/>
                </a:solidFill>
                <a:latin typeface="Arial" pitchFamily="34" charset="0"/>
                <a:ea typeface="Arial" pitchFamily="34" charset="-122"/>
                <a:cs typeface="Arial" pitchFamily="34" charset="-120"/>
              </a:rPr>
              <a:t>Place and time alone reach ROC-AUC 0.87. Weather does not shift the share.</a:t>
            </a:r>
            <a:endParaRPr lang="en-US" sz="1400" dirty="0"/>
          </a:p>
        </p:txBody>
      </p:sp>
      <p:sp>
        <p:nvSpPr>
          <p:cNvPr id="11" name="Text 9"/>
          <p:cNvSpPr/>
          <p:nvPr/>
        </p:nvSpPr>
        <p:spPr>
          <a:xfrm>
            <a:off x="6096000" y="2753258"/>
            <a:ext cx="5441696"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B701"/>
                </a:solidFill>
                <a:latin typeface="Arial" pitchFamily="34" charset="0"/>
                <a:ea typeface="Arial" pitchFamily="34" charset="-122"/>
                <a:cs typeface="Arial" pitchFamily="34" charset="-120"/>
              </a:rPr>
              <a:t>Data quality differs</a:t>
            </a:r>
            <a:endParaRPr lang="en-US" sz="1700" dirty="0"/>
          </a:p>
        </p:txBody>
      </p:sp>
      <p:sp>
        <p:nvSpPr>
          <p:cNvPr id="12" name="Text 10"/>
          <p:cNvSpPr/>
          <p:nvPr/>
        </p:nvSpPr>
        <p:spPr>
          <a:xfrm>
            <a:off x="6096000" y="3063081"/>
            <a:ext cx="544169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DD3"/>
                </a:solidFill>
                <a:latin typeface="Arial" pitchFamily="34" charset="0"/>
                <a:ea typeface="Arial" pitchFamily="34" charset="-122"/>
                <a:cs typeface="Arial" pitchFamily="34" charset="-120"/>
              </a:rPr>
              <a:t>9.7 % of taxi rows removed vs. 0.2 % of app rows. Refunds need TLC context.</a:t>
            </a:r>
            <a:endParaRPr lang="en-US" sz="1400" dirty="0"/>
          </a:p>
        </p:txBody>
      </p:sp>
      <p:sp>
        <p:nvSpPr>
          <p:cNvPr id="13" name="Text 11"/>
          <p:cNvSpPr/>
          <p:nvPr/>
        </p:nvSpPr>
        <p:spPr>
          <a:xfrm>
            <a:off x="812800" y="3865699"/>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CE9E1"/>
                </a:solidFill>
                <a:latin typeface="Arial" pitchFamily="34" charset="0"/>
                <a:ea typeface="Arial" pitchFamily="34" charset="-122"/>
                <a:cs typeface="Arial" pitchFamily="34" charset="-120"/>
              </a:rPr>
              <a:t>Next:</a:t>
            </a:r>
            <a:r>
              <a:rPr lang="en-US" sz="1400" dirty="0">
                <a:solidFill>
                  <a:srgbClr val="A9AFB8"/>
                </a:solidFill>
                <a:latin typeface="Arial" pitchFamily="34" charset="0"/>
                <a:ea typeface="Arial" pitchFamily="34" charset="-122"/>
                <a:cs typeface="Arial" pitchFamily="34" charset="-120"/>
              </a:rPr>
              <a:t> full model with zone-level features, add 2024 for a trend, and schedule the Prefect flow monthly.</a:t>
            </a:r>
            <a:endParaRPr lang="en-US" sz="14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C"/>
                </a:solidFill>
                <a:latin typeface="Arial" pitchFamily="34" charset="0"/>
                <a:ea typeface="Arial" pitchFamily="34" charset="-122"/>
                <a:cs typeface="Arial" pitchFamily="34" charset="-120"/>
              </a:rPr>
              <a:t>Code and notebook: github.com/carlo120702/nyc-taxi-vs-uber-lyft · 10 / 10</a:t>
            </a:r>
            <a:endParaRPr lang="en-US" sz="1200" dirty="0"/>
          </a:p>
        </p:txBody>
      </p:sp>
    </p:spTree>
  </p:cSld>
  <p:clrMapOvr>
    <a:masterClrMapping/>
  </p:clrMapOvr>
</p:sld>
</file>

<file path=ppt/theme/theme1.xml><?xml version="1.0" encoding="utf-8"?>
<a:theme xmlns:a="http://schemas.openxmlformats.org/drawingml/2006/main" name="NYC Yellow Taxi vs. Uber/Lyft 2025">
  <a:themeElements>
    <a:clrScheme name="NYC Yellow Taxi vs. Uber/Lyft 2025">
      <a:dk1>
        <a:srgbClr val="1B2029"/>
      </a:dk1>
      <a:lt1>
        <a:srgbClr val="F4F2EC"/>
      </a:lt1>
      <a:dk2>
        <a:srgbClr val="51555A"/>
      </a:dk2>
      <a:lt2>
        <a:srgbClr val="DEDDD9"/>
      </a:lt2>
      <a:accent1>
        <a:srgbClr val="F2B701"/>
      </a:accent1>
      <a:accent2>
        <a:srgbClr val="7A5A00"/>
      </a:accent2>
      <a:accent3>
        <a:srgbClr val="F07AB8"/>
      </a:accent3>
      <a:accent4>
        <a:srgbClr val="C9CDD3"/>
      </a:accent4>
      <a:accent5>
        <a:srgbClr val="4A5260"/>
      </a:accent5>
      <a:accent6>
        <a:srgbClr val="3E4652"/>
      </a:accent6>
      <a:hlink>
        <a:srgbClr val="0563C1"/>
      </a:hlink>
      <a:folHlink>
        <a:srgbClr val="954F72"/>
      </a:folHlink>
    </a:clrScheme>
    <a:fontScheme name="NYC Yellow Taxi vs. Uber/Lyft 2025">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Yellow Taxi vs. Uber/Lyft 2025</dc:title>
  <dc:subject/>
  <dc:creator/>
  <cp:lastModifiedBy/>
  <cp:revision>1</cp:revision>
  <dcterms:created xsi:type="dcterms:W3CDTF">2026-10-09T16:13:13Z</dcterms:created>
  <dcterms:modified xsi:type="dcterms:W3CDTF">2026-10-09T16:13:13Z</dcterms:modified>
</cp:coreProperties>
</file>